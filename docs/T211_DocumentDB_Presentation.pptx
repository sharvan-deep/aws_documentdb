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presentation on using Amazon DocumentDB for our Document-Oriented Inspection Application. I am representing Team T211. Today we will cover our problem, solution, architecture, and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problem is variable schemas. In our domain, different inspection reports have entirely different fields. A rigid relational table is like a printed form that can't be changed, whereas we need a flexible folder approach where any structure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dive deep, let's establish some key terms. A document holds our flexible JSON data, and a collection groups these documents. Variable schema means they don't all look the same, and nested data refers to arrays within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relational databases, but they would require complex joins for our nested findings or result in sparse columns. Using a document model means each report is stored as a single, self-contained JSON object, avoiding joins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Amazon DocumentDB. It allows us to store all report types in a single managed collection. We address two main bottlenecks: driver compatibility gaps and high cluster costs for a small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architecture. The browser runs our React frontend, talking to an Express API on EC2. The API uses the MongoDB Node driver version 5, configured specifically for DocumentDB, and everything is secured inside an AWS VPC.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application features multiple pages. The Dashboard shows overall stats, Reports lists the records, and Create Report allows data entry. We also built a Query Playground page to demonstrate nested queries against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three sample documents from our seed data. Notice the highlighted different fields: vehicleDetails versus buildingDetails versus temperatureLog. All three live side-by-side in the exact same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codebase extensively uses nested queries. We can easily search deep inside the findings array, or filter by specific schema fields using dot notation. We also use aggregations to power our dashboard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DocumentDB is MongoDB-compatible, we address several bottlenecks. For example, retryable writes break, so we disable them. We also explicitly provide the AWS global TLS bundle. The table lists these gaps and our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bottleneck is cost. To manage this, we provision a single t3.medium instance and stop the cluster when not in use. Screenshots on this slide show our live budget and cost footprint.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demo, we will walk through the AWS architecture, use our React dashboard, and dynamically create reports of different shapes. The main takeaway is that DocumentDB stores variable-schema reports in one collection and supports nested queries, with two manageable bottlenecks.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00080"/>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80"/>
        </a:solidFill>
      </p:bgPr>
    </p:bg>
    <p:spTree>
      <p:nvGrpSpPr>
        <p:cNvPr id="1" name=""/>
        <p:cNvGrpSpPr/>
        <p:nvPr/>
      </p:nvGrpSpPr>
      <p:grpSpPr>
        <a:xfrm>
          <a:off x="0" y="0"/>
          <a:ext cx="0" cy="0"/>
          <a:chOff x="0" y="0"/>
          <a:chExt cx="0" cy="0"/>
        </a:xfrm>
      </p:grpSpPr>
      <p:sp>
        <p:nvSpPr>
          <p:cNvPr id="2" name="Text 0"/>
          <p:cNvSpPr/>
          <p:nvPr/>
        </p:nvSpPr>
        <p:spPr>
          <a:xfrm>
            <a:off x="914400" y="2286000"/>
            <a:ext cx="7315200" cy="1371600"/>
          </a:xfrm>
          <a:prstGeom prst="rect">
            <a:avLst/>
          </a:prstGeom>
          <a:noFill/>
          <a:ln/>
        </p:spPr>
        <p:txBody>
          <a:bodyPr wrap="square"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Amazon DocumentDB for a Document-Oriented Application</a:t>
            </a:r>
            <a:endParaRPr lang="en-US" sz="4000" dirty="0"/>
          </a:p>
        </p:txBody>
      </p:sp>
      <p:sp>
        <p:nvSpPr>
          <p:cNvPr id="3" name="Text 1"/>
          <p:cNvSpPr/>
          <p:nvPr/>
        </p:nvSpPr>
        <p:spPr>
          <a:xfrm>
            <a:off x="914400" y="3657600"/>
            <a:ext cx="7315200" cy="457200"/>
          </a:xfrm>
          <a:prstGeom prst="rect">
            <a:avLst/>
          </a:prstGeom>
          <a:noFill/>
          <a:ln/>
        </p:spPr>
        <p:txBody>
          <a:bodyPr wrap="square" rtlCol="0" anchor="ctr"/>
          <a:lstStyle/>
          <a:p>
            <a:pPr algn="ctr" indent="0" marL="0">
              <a:buNone/>
            </a:pPr>
            <a:r>
              <a:rPr lang="en-US" sz="2400" dirty="0">
                <a:solidFill>
                  <a:srgbClr val="FF9900"/>
                </a:solidFill>
                <a:latin typeface="Arial" pitchFamily="34" charset="0"/>
                <a:ea typeface="Arial" pitchFamily="34" charset="-122"/>
                <a:cs typeface="Arial" pitchFamily="34" charset="-120"/>
              </a:rPr>
              <a:t>Team T211</a:t>
            </a:r>
            <a:endParaRPr lang="en-US" sz="2400" dirty="0"/>
          </a:p>
        </p:txBody>
      </p:sp>
      <p:sp>
        <p:nvSpPr>
          <p:cNvPr id="4" name="Text 2"/>
          <p:cNvSpPr/>
          <p:nvPr/>
        </p:nvSpPr>
        <p:spPr>
          <a:xfrm>
            <a:off x="914400" y="4114800"/>
            <a:ext cx="7315200" cy="457200"/>
          </a:xfrm>
          <a:prstGeom prst="rect">
            <a:avLst/>
          </a:prstGeom>
          <a:noFill/>
          <a:ln/>
        </p:spPr>
        <p:txBody>
          <a:bodyPr wrap="square" rtlCol="0" anchor="ctr"/>
          <a:lstStyle/>
          <a:p>
            <a:pPr algn="ctr" indent="0" marL="0">
              <a:buNone/>
            </a:pPr>
            <a:r>
              <a:rPr lang="en-US" sz="2000" dirty="0">
                <a:solidFill>
                  <a:srgbClr val="FFFFFF"/>
                </a:solidFill>
                <a:latin typeface="Arial" pitchFamily="34" charset="0"/>
                <a:ea typeface="Arial" pitchFamily="34" charset="-122"/>
                <a:cs typeface="Arial" pitchFamily="34" charset="-120"/>
              </a:rPr>
              <a:t>2026-10-03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Problem: Variable Schemas</a:t>
            </a:r>
            <a:endParaRPr lang="en-US" sz="3200" dirty="0"/>
          </a:p>
        </p:txBody>
      </p:sp>
      <p:sp>
        <p:nvSpPr>
          <p:cNvPr id="3" name="Text 1"/>
          <p:cNvSpPr/>
          <p:nvPr/>
        </p:nvSpPr>
        <p:spPr>
          <a:xfrm>
            <a:off x="457200" y="1371600"/>
            <a:ext cx="8229600" cy="320040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Reports of different types have totally different fields.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A vehicle inspection has completely different data than a building inspection.</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Relational databases force empty columns or complex migrations.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Analogy: We need a flexible folder, not a rigid printed form.</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Our queries also need to search deeply nested data.</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Key Terms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2743200"/>
        </p:xfrm>
        <a:graphic>
          <a:graphicData uri="http://schemas.openxmlformats.org/drawingml/2006/table">
            <a:tbl>
              <a:tblPr/>
              <a:tblGrid>
                <a:gridCol w="2743200"/>
                <a:gridCol w="5486400"/>
              </a:tblGrid>
              <a:tr h="457200">
                <a:tc>
                  <a:txBody>
                    <a:bodyPr/>
                    <a:lstStyle/>
                    <a:p>
                      <a:pPr indent="0" marL="0">
                        <a:buNone/>
                      </a:pPr>
                      <a:r>
                        <a:rPr lang="en-US" sz="2000" b="1" dirty="0">
                          <a:solidFill>
                            <a:srgbClr val="FFFFFF"/>
                          </a:solidFill>
                          <a:latin typeface="Arial" pitchFamily="34" charset="0"/>
                          <a:ea typeface="Arial" pitchFamily="34" charset="-122"/>
                          <a:cs typeface="Arial" pitchFamily="34" charset="-120"/>
                        </a:rPr>
                        <a:t>Term</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2000" b="1" dirty="0">
                          <a:solidFill>
                            <a:srgbClr val="FFFFFF"/>
                          </a:solidFill>
                          <a:latin typeface="Arial" pitchFamily="34" charset="0"/>
                          <a:ea typeface="Arial" pitchFamily="34" charset="-122"/>
                          <a:cs typeface="Arial" pitchFamily="34" charset="-120"/>
                        </a:rPr>
                        <a:t>Definition</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r>
              <a:tr h="457200">
                <a:tc>
                  <a:txBody>
                    <a:bodyPr/>
                    <a:lstStyle/>
                    <a:p>
                      <a:pPr indent="0" marL="0">
                        <a:buNone/>
                      </a:pPr>
                      <a:r>
                        <a:rPr lang="en-US" sz="2000" dirty="0">
                          <a:solidFill>
                            <a:srgbClr val="000000"/>
                          </a:solidFill>
                          <a:latin typeface="Arial" pitchFamily="34" charset="0"/>
                          <a:ea typeface="Arial" pitchFamily="34" charset="-122"/>
                          <a:cs typeface="Arial" pitchFamily="34" charset="-120"/>
                        </a:rPr>
                        <a:t>Document</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2000" dirty="0">
                          <a:solidFill>
                            <a:srgbClr val="000000"/>
                          </a:solidFill>
                          <a:latin typeface="Arial" pitchFamily="34" charset="0"/>
                          <a:ea typeface="Arial" pitchFamily="34" charset="-122"/>
                          <a:cs typeface="Arial" pitchFamily="34" charset="-120"/>
                        </a:rPr>
                        <a:t>A flexible JSON-like record holding our data.</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57200">
                <a:tc>
                  <a:txBody>
                    <a:bodyPr/>
                    <a:lstStyle/>
                    <a:p>
                      <a:pPr indent="0" marL="0">
                        <a:buNone/>
                      </a:pPr>
                      <a:r>
                        <a:rPr lang="en-US" sz="2000" dirty="0">
                          <a:solidFill>
                            <a:srgbClr val="000000"/>
                          </a:solidFill>
                          <a:latin typeface="Arial" pitchFamily="34" charset="0"/>
                          <a:ea typeface="Arial" pitchFamily="34" charset="-122"/>
                          <a:cs typeface="Arial" pitchFamily="34" charset="-120"/>
                        </a:rPr>
                        <a:t>Collection</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2000" dirty="0">
                          <a:solidFill>
                            <a:srgbClr val="000000"/>
                          </a:solidFill>
                          <a:latin typeface="Arial" pitchFamily="34" charset="0"/>
                          <a:ea typeface="Arial" pitchFamily="34" charset="-122"/>
                          <a:cs typeface="Arial" pitchFamily="34" charset="-120"/>
                        </a:rPr>
                        <a:t>A group of documents, similar to a table.</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57200">
                <a:tc>
                  <a:txBody>
                    <a:bodyPr/>
                    <a:lstStyle/>
                    <a:p>
                      <a:pPr indent="0" marL="0">
                        <a:buNone/>
                      </a:pPr>
                      <a:r>
                        <a:rPr lang="en-US" sz="2000" dirty="0">
                          <a:solidFill>
                            <a:srgbClr val="000000"/>
                          </a:solidFill>
                          <a:latin typeface="Arial" pitchFamily="34" charset="0"/>
                          <a:ea typeface="Arial" pitchFamily="34" charset="-122"/>
                          <a:cs typeface="Arial" pitchFamily="34" charset="-120"/>
                        </a:rPr>
                        <a:t>Variable Schema</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2000" dirty="0">
                          <a:solidFill>
                            <a:srgbClr val="000000"/>
                          </a:solidFill>
                          <a:latin typeface="Arial" pitchFamily="34" charset="0"/>
                          <a:ea typeface="Arial" pitchFamily="34" charset="-122"/>
                          <a:cs typeface="Arial" pitchFamily="34" charset="-120"/>
                        </a:rPr>
                        <a:t>Documents in one collection having completely different fields.</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57200">
                <a:tc>
                  <a:txBody>
                    <a:bodyPr/>
                    <a:lstStyle/>
                    <a:p>
                      <a:pPr indent="0" marL="0">
                        <a:buNone/>
                      </a:pPr>
                      <a:r>
                        <a:rPr lang="en-US" sz="2000" dirty="0">
                          <a:solidFill>
                            <a:srgbClr val="000000"/>
                          </a:solidFill>
                          <a:latin typeface="Arial" pitchFamily="34" charset="0"/>
                          <a:ea typeface="Arial" pitchFamily="34" charset="-122"/>
                          <a:cs typeface="Arial" pitchFamily="34" charset="-120"/>
                        </a:rPr>
                        <a:t>Nested Data</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2000" dirty="0">
                          <a:solidFill>
                            <a:srgbClr val="000000"/>
                          </a:solidFill>
                          <a:latin typeface="Arial" pitchFamily="34" charset="0"/>
                          <a:ea typeface="Arial" pitchFamily="34" charset="-122"/>
                          <a:cs typeface="Arial" pitchFamily="34" charset="-120"/>
                        </a:rPr>
                        <a:t>Arrays and objects stored inside the main document.</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457200">
                <a:tc>
                  <a:txBody>
                    <a:bodyPr/>
                    <a:lstStyle/>
                    <a:p>
                      <a:pPr indent="0" marL="0">
                        <a:buNone/>
                      </a:pPr>
                      <a:r>
                        <a:rPr lang="en-US" sz="2000" dirty="0">
                          <a:solidFill>
                            <a:srgbClr val="000000"/>
                          </a:solidFill>
                          <a:latin typeface="Arial" pitchFamily="34" charset="0"/>
                          <a:ea typeface="Arial" pitchFamily="34" charset="-122"/>
                          <a:cs typeface="Arial" pitchFamily="34" charset="-120"/>
                        </a:rPr>
                        <a:t>Query</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2000" dirty="0">
                          <a:solidFill>
                            <a:srgbClr val="000000"/>
                          </a:solidFill>
                          <a:latin typeface="Arial" pitchFamily="34" charset="0"/>
                          <a:ea typeface="Arial" pitchFamily="34" charset="-122"/>
                          <a:cs typeface="Arial" pitchFamily="34" charset="-120"/>
                        </a:rPr>
                        <a:t>A request to find, filter, or aggregate the documents.</a:t>
                      </a:r>
                      <a:endParaRPr lang="en-US" sz="20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Why Not Relational Tables?</a:t>
            </a:r>
            <a:endParaRPr lang="en-US" sz="3200" dirty="0"/>
          </a:p>
        </p:txBody>
      </p:sp>
      <p:sp>
        <p:nvSpPr>
          <p:cNvPr id="3" name="Text 1"/>
          <p:cNvSpPr/>
          <p:nvPr/>
        </p:nvSpPr>
        <p:spPr>
          <a:xfrm>
            <a:off x="457200" y="1371600"/>
            <a:ext cx="8229600" cy="320040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Rigid tables lead to sparse columns with many NULL values.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Creating a table per report type is difficult to manage.</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Nested findings require complex multi-table joins.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Migrations cause downtime when adding new fields.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Instead, one JSON document per report solves this natively.</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The Solution: Amazon DocumentDB</a:t>
            </a:r>
            <a:endParaRPr lang="en-US" sz="3200" dirty="0"/>
          </a:p>
        </p:txBody>
      </p:sp>
      <p:sp>
        <p:nvSpPr>
          <p:cNvPr id="3" name="Text 1"/>
          <p:cNvSpPr/>
          <p:nvPr/>
        </p:nvSpPr>
        <p:spPr>
          <a:xfrm>
            <a:off x="457200" y="1371600"/>
            <a:ext cx="8229600" cy="320040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Amazon DocumentDB stores all report types in one collection.</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Fully managed, scalable, and compatible with MongoDB.</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Handles nested JSON structures natively for easy querying.</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We address driver compatibility gaps.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We control cost with a small cluster and a stop/delete routine.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Architecture Overview</a:t>
            </a:r>
            <a:endParaRPr lang="en-US" sz="3200" dirty="0"/>
          </a:p>
        </p:txBody>
      </p:sp>
      <p:sp>
        <p:nvSpPr>
          <p:cNvPr id="3" name="Shape 1"/>
          <p:cNvSpPr/>
          <p:nvPr/>
        </p:nvSpPr>
        <p:spPr>
          <a:xfrm>
            <a:off x="457200" y="1371600"/>
            <a:ext cx="1645920" cy="914400"/>
          </a:xfrm>
          <a:prstGeom prst="rect">
            <a:avLst/>
          </a:prstGeom>
          <a:solidFill>
            <a:srgbClr val="EEEEEE"/>
          </a:solidFill>
          <a:ln w="12700">
            <a:solidFill>
              <a:srgbClr val="000080"/>
            </a:solidFill>
            <a:prstDash val="solid"/>
          </a:ln>
        </p:spPr>
      </p:sp>
      <p:sp>
        <p:nvSpPr>
          <p:cNvPr id="4" name="Text 2"/>
          <p:cNvSpPr/>
          <p:nvPr/>
        </p:nvSpPr>
        <p:spPr>
          <a:xfrm>
            <a:off x="457200" y="1371600"/>
            <a:ext cx="1645920" cy="914400"/>
          </a:xfrm>
          <a:prstGeom prst="rect">
            <a:avLst/>
          </a:prstGeom>
          <a:noFill/>
          <a:ln/>
        </p:spPr>
        <p:txBody>
          <a:bodyPr wrap="square" rtlCol="0" anchor="ctr"/>
          <a:lstStyle/>
          <a:p>
            <a:pPr algn="ctr" indent="0" marL="0">
              <a:buNone/>
            </a:pPr>
            <a:r>
              <a:rPr lang="en-US" sz="1600" dirty="0">
                <a:solidFill>
                  <a:srgbClr val="000000"/>
                </a:solidFill>
              </a:rPr>
              <a:t>Browser</a:t>
            </a:r>
            <a:endParaRPr lang="en-US" sz="1600" dirty="0"/>
          </a:p>
          <a:p>
            <a:pPr algn="ctr" indent="0" marL="0">
              <a:buNone/>
            </a:pPr>
            <a:r>
              <a:rPr lang="en-US" sz="1600" dirty="0">
                <a:solidFill>
                  <a:srgbClr val="000000"/>
                </a:solidFill>
              </a:rPr>
              <a:t>(React UI)</a:t>
            </a:r>
            <a:endParaRPr lang="en-US" sz="1600" dirty="0"/>
          </a:p>
        </p:txBody>
      </p:sp>
      <p:sp>
        <p:nvSpPr>
          <p:cNvPr id="5" name="Shape 3"/>
          <p:cNvSpPr/>
          <p:nvPr/>
        </p:nvSpPr>
        <p:spPr>
          <a:xfrm>
            <a:off x="2103120" y="1645920"/>
            <a:ext cx="548640" cy="365760"/>
          </a:xfrm>
          <a:prstGeom prst="rightArrow">
            <a:avLst/>
          </a:prstGeom>
          <a:solidFill>
            <a:srgbClr val="FF9900"/>
          </a:solidFill>
          <a:ln/>
        </p:spPr>
      </p:sp>
      <p:sp>
        <p:nvSpPr>
          <p:cNvPr id="6" name="Shape 4"/>
          <p:cNvSpPr/>
          <p:nvPr/>
        </p:nvSpPr>
        <p:spPr>
          <a:xfrm>
            <a:off x="2651760" y="1371600"/>
            <a:ext cx="1828800" cy="914400"/>
          </a:xfrm>
          <a:prstGeom prst="rect">
            <a:avLst/>
          </a:prstGeom>
          <a:solidFill>
            <a:srgbClr val="EEEEEE"/>
          </a:solidFill>
          <a:ln w="12700">
            <a:solidFill>
              <a:srgbClr val="000080"/>
            </a:solidFill>
            <a:prstDash val="solid"/>
          </a:ln>
        </p:spPr>
      </p:sp>
      <p:sp>
        <p:nvSpPr>
          <p:cNvPr id="7" name="Text 5"/>
          <p:cNvSpPr/>
          <p:nvPr/>
        </p:nvSpPr>
        <p:spPr>
          <a:xfrm>
            <a:off x="2651760" y="1371600"/>
            <a:ext cx="1828800" cy="914400"/>
          </a:xfrm>
          <a:prstGeom prst="rect">
            <a:avLst/>
          </a:prstGeom>
          <a:noFill/>
          <a:ln/>
        </p:spPr>
        <p:txBody>
          <a:bodyPr wrap="square" rtlCol="0" anchor="ctr"/>
          <a:lstStyle/>
          <a:p>
            <a:pPr algn="ctr" indent="0" marL="0">
              <a:buNone/>
            </a:pPr>
            <a:r>
              <a:rPr lang="en-US" sz="1600" dirty="0">
                <a:solidFill>
                  <a:srgbClr val="000000"/>
                </a:solidFill>
              </a:rPr>
              <a:t>Express API</a:t>
            </a:r>
            <a:endParaRPr lang="en-US" sz="1600" dirty="0"/>
          </a:p>
          <a:p>
            <a:pPr algn="ctr" indent="0" marL="0">
              <a:buNone/>
            </a:pPr>
            <a:r>
              <a:rPr lang="en-US" sz="1600" dirty="0">
                <a:solidFill>
                  <a:srgbClr val="000000"/>
                </a:solidFill>
              </a:rPr>
              <a:t>(EC2 Server)</a:t>
            </a:r>
            <a:endParaRPr lang="en-US" sz="1600" dirty="0"/>
          </a:p>
        </p:txBody>
      </p:sp>
      <p:sp>
        <p:nvSpPr>
          <p:cNvPr id="8" name="Shape 6"/>
          <p:cNvSpPr/>
          <p:nvPr/>
        </p:nvSpPr>
        <p:spPr>
          <a:xfrm>
            <a:off x="4480560" y="1645920"/>
            <a:ext cx="548640" cy="365760"/>
          </a:xfrm>
          <a:prstGeom prst="rightArrow">
            <a:avLst/>
          </a:prstGeom>
          <a:solidFill>
            <a:srgbClr val="FF9900"/>
          </a:solidFill>
          <a:ln/>
        </p:spPr>
      </p:sp>
      <p:sp>
        <p:nvSpPr>
          <p:cNvPr id="9" name="Shape 7"/>
          <p:cNvSpPr/>
          <p:nvPr/>
        </p:nvSpPr>
        <p:spPr>
          <a:xfrm>
            <a:off x="5029200" y="1188720"/>
            <a:ext cx="2011680" cy="1280160"/>
          </a:xfrm>
          <a:prstGeom prst="rect">
            <a:avLst/>
          </a:prstGeom>
          <a:solidFill>
            <a:srgbClr val="EEEEEE"/>
          </a:solidFill>
          <a:ln w="12700">
            <a:solidFill>
              <a:srgbClr val="000080"/>
            </a:solidFill>
            <a:prstDash val="solid"/>
          </a:ln>
        </p:spPr>
      </p:sp>
      <p:sp>
        <p:nvSpPr>
          <p:cNvPr id="10" name="Text 8"/>
          <p:cNvSpPr/>
          <p:nvPr/>
        </p:nvSpPr>
        <p:spPr>
          <a:xfrm>
            <a:off x="5029200" y="1188720"/>
            <a:ext cx="2011680" cy="1280160"/>
          </a:xfrm>
          <a:prstGeom prst="rect">
            <a:avLst/>
          </a:prstGeom>
          <a:noFill/>
          <a:ln/>
        </p:spPr>
        <p:txBody>
          <a:bodyPr wrap="square" rtlCol="0" anchor="ctr"/>
          <a:lstStyle/>
          <a:p>
            <a:pPr algn="ctr" indent="0" marL="0">
              <a:buNone/>
            </a:pPr>
            <a:r>
              <a:rPr lang="en-US" sz="1400" dirty="0">
                <a:solidFill>
                  <a:srgbClr val="000000"/>
                </a:solidFill>
              </a:rPr>
              <a:t>MongoDB Node Driver v5</a:t>
            </a:r>
            <a:endParaRPr lang="en-US" sz="1400" dirty="0"/>
          </a:p>
          <a:p>
            <a:pPr algn="ctr" indent="0" marL="0">
              <a:buNone/>
            </a:pPr>
            <a:r>
              <a:rPr lang="en-US" sz="1400" dirty="0">
                <a:solidFill>
                  <a:srgbClr val="000000"/>
                </a:solidFill>
              </a:rPr>
              <a:t>(TLS, retryWrites=false)</a:t>
            </a:r>
            <a:endParaRPr lang="en-US" sz="1400" dirty="0"/>
          </a:p>
        </p:txBody>
      </p:sp>
      <p:sp>
        <p:nvSpPr>
          <p:cNvPr id="11" name="Shape 9"/>
          <p:cNvSpPr/>
          <p:nvPr/>
        </p:nvSpPr>
        <p:spPr>
          <a:xfrm>
            <a:off x="7040880" y="1645920"/>
            <a:ext cx="548640" cy="365760"/>
          </a:xfrm>
          <a:prstGeom prst="rightArrow">
            <a:avLst/>
          </a:prstGeom>
          <a:solidFill>
            <a:srgbClr val="FF9900"/>
          </a:solidFill>
          <a:ln/>
        </p:spPr>
      </p:sp>
      <p:sp>
        <p:nvSpPr>
          <p:cNvPr id="12" name="Shape 10"/>
          <p:cNvSpPr/>
          <p:nvPr/>
        </p:nvSpPr>
        <p:spPr>
          <a:xfrm>
            <a:off x="7589520" y="1188720"/>
            <a:ext cx="1371600" cy="1280160"/>
          </a:xfrm>
          <a:prstGeom prst="can">
            <a:avLst/>
          </a:prstGeom>
          <a:solidFill>
            <a:srgbClr val="000080"/>
          </a:solidFill>
          <a:ln/>
        </p:spPr>
      </p:sp>
      <p:sp>
        <p:nvSpPr>
          <p:cNvPr id="13" name="Text 11"/>
          <p:cNvSpPr/>
          <p:nvPr/>
        </p:nvSpPr>
        <p:spPr>
          <a:xfrm>
            <a:off x="7589520" y="1188720"/>
            <a:ext cx="1371600" cy="1280160"/>
          </a:xfrm>
          <a:prstGeom prst="rect">
            <a:avLst/>
          </a:prstGeom>
          <a:noFill/>
          <a:ln/>
        </p:spPr>
        <p:txBody>
          <a:bodyPr wrap="square" rtlCol="0" anchor="ctr"/>
          <a:lstStyle/>
          <a:p>
            <a:pPr algn="ctr" indent="0" marL="0">
              <a:buNone/>
            </a:pPr>
            <a:r>
              <a:rPr lang="en-US" sz="1400" dirty="0">
                <a:solidFill>
                  <a:srgbClr val="FFFFFF"/>
                </a:solidFill>
              </a:rPr>
              <a:t>Amazon</a:t>
            </a:r>
            <a:endParaRPr lang="en-US" sz="1400" dirty="0"/>
          </a:p>
          <a:p>
            <a:pPr algn="ctr" indent="0" marL="0">
              <a:buNone/>
            </a:pPr>
            <a:r>
              <a:rPr lang="en-US" sz="1400" dirty="0">
                <a:solidFill>
                  <a:srgbClr val="FFFFFF"/>
                </a:solidFill>
              </a:rPr>
              <a:t>DocumentDB</a:t>
            </a:r>
            <a:endParaRPr lang="en-US" sz="1400" dirty="0"/>
          </a:p>
          <a:p>
            <a:pPr algn="ctr" indent="0" marL="0">
              <a:buNone/>
            </a:pPr>
            <a:r>
              <a:rPr lang="en-US" sz="1400" dirty="0">
                <a:solidFill>
                  <a:srgbClr val="FFFFFF"/>
                </a:solidFill>
              </a:rPr>
              <a:t>Cluster</a:t>
            </a:r>
            <a:endParaRPr lang="en-US" sz="1400" dirty="0"/>
          </a:p>
        </p:txBody>
      </p:sp>
      <p:sp>
        <p:nvSpPr>
          <p:cNvPr id="14" name="Shape 12"/>
          <p:cNvSpPr/>
          <p:nvPr/>
        </p:nvSpPr>
        <p:spPr>
          <a:xfrm>
            <a:off x="2468880" y="914400"/>
            <a:ext cx="6675120" cy="1828800"/>
          </a:xfrm>
          <a:prstGeom prst="rect">
            <a:avLst/>
          </a:prstGeom>
          <a:solidFill>
            <a:srgbClr val="FFFFFF">
              <a:alpha val="0"/>
            </a:srgbClr>
          </a:solidFill>
          <a:ln w="12700">
            <a:solidFill>
              <a:srgbClr val="FF9900"/>
            </a:solidFill>
            <a:prstDash val="dash"/>
          </a:ln>
        </p:spPr>
      </p:sp>
      <p:sp>
        <p:nvSpPr>
          <p:cNvPr id="15" name="Text 13"/>
          <p:cNvSpPr/>
          <p:nvPr/>
        </p:nvSpPr>
        <p:spPr>
          <a:xfrm>
            <a:off x="2468880" y="2834640"/>
            <a:ext cx="6675120" cy="274320"/>
          </a:xfrm>
          <a:prstGeom prst="rect">
            <a:avLst/>
          </a:prstGeom>
          <a:noFill/>
          <a:ln/>
        </p:spPr>
        <p:txBody>
          <a:bodyPr wrap="square" rtlCol="0" anchor="ctr"/>
          <a:lstStyle/>
          <a:p>
            <a:pPr algn="ctr" indent="0" marL="0">
              <a:buNone/>
            </a:pPr>
            <a:r>
              <a:rPr lang="en-US" sz="1600" dirty="0">
                <a:solidFill>
                  <a:srgbClr val="FF9900"/>
                </a:solidFill>
              </a:rPr>
              <a:t>AWS VPC (Security Groups)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Website Pages &amp; API Calls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2743200"/>
        </p:xfrm>
        <a:graphic>
          <a:graphicData uri="http://schemas.openxmlformats.org/drawingml/2006/table">
            <a:tbl>
              <a:tblPr/>
              <a:tblGrid>
                <a:gridCol w="2057400"/>
                <a:gridCol w="2057400"/>
                <a:gridCol w="2057400"/>
                <a:gridCol w="2057400"/>
              </a:tblGrid>
              <a:tr h="391886">
                <a:tc>
                  <a:txBody>
                    <a:bodyPr/>
                    <a:lstStyle/>
                    <a:p>
                      <a:pPr indent="0" marL="0">
                        <a:buNone/>
                      </a:pPr>
                      <a:r>
                        <a:rPr lang="en-US" sz="1600" b="1" dirty="0">
                          <a:solidFill>
                            <a:srgbClr val="FFFFFF"/>
                          </a:solidFill>
                          <a:latin typeface="Arial" pitchFamily="34" charset="0"/>
                          <a:ea typeface="Arial" pitchFamily="34" charset="-122"/>
                          <a:cs typeface="Arial" pitchFamily="34" charset="-120"/>
                        </a:rPr>
                        <a:t>Path</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Component</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Purpose</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Primary API</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r>
              <a:tr h="391886">
                <a:tc>
                  <a:txBody>
                    <a:bodyPr/>
                    <a:lstStyle/>
                    <a:p>
                      <a:pPr indent="0" marL="0">
                        <a:buNone/>
                      </a:pPr>
                      <a:r>
                        <a:rPr lang="en-US" sz="1600" dirty="0">
                          <a:solidFill>
                            <a:srgbClr val="000000"/>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Dashboard</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Overview and charts</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GET /reports/stats/overview</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91886">
                <a:tc>
                  <a:txBody>
                    <a:bodyPr/>
                    <a:lstStyle/>
                    <a:p>
                      <a:pPr indent="0" marL="0">
                        <a:buNone/>
                      </a:pPr>
                      <a:r>
                        <a:rPr lang="en-US" sz="1600" dirty="0">
                          <a:solidFill>
                            <a:srgbClr val="000000"/>
                          </a:solidFill>
                          <a:latin typeface="Arial" pitchFamily="34" charset="0"/>
                          <a:ea typeface="Arial" pitchFamily="34" charset="-122"/>
                          <a:cs typeface="Arial" pitchFamily="34" charset="-120"/>
                        </a:rPr>
                        <a:t>/reports</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Reports</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List all reports</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GET /reports</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91886">
                <a:tc>
                  <a:txBody>
                    <a:bodyPr/>
                    <a:lstStyle/>
                    <a:p>
                      <a:pPr indent="0" marL="0">
                        <a:buNone/>
                      </a:pPr>
                      <a:r>
                        <a:rPr lang="en-US" sz="1600" dirty="0">
                          <a:solidFill>
                            <a:srgbClr val="000000"/>
                          </a:solidFill>
                          <a:latin typeface="Arial" pitchFamily="34" charset="0"/>
                          <a:ea typeface="Arial" pitchFamily="34" charset="-122"/>
                          <a:cs typeface="Arial" pitchFamily="34" charset="-120"/>
                        </a:rPr>
                        <a:t>/reports/new</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CreateReport</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Create a new report</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POST /reports</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91886">
                <a:tc>
                  <a:txBody>
                    <a:bodyPr/>
                    <a:lstStyle/>
                    <a:p>
                      <a:pPr indent="0" marL="0">
                        <a:buNone/>
                      </a:pPr>
                      <a:r>
                        <a:rPr lang="en-US" sz="1600" dirty="0">
                          <a:solidFill>
                            <a:srgbClr val="000000"/>
                          </a:solidFill>
                          <a:latin typeface="Arial" pitchFamily="34" charset="0"/>
                          <a:ea typeface="Arial" pitchFamily="34" charset="-122"/>
                          <a:cs typeface="Arial" pitchFamily="34" charset="-120"/>
                        </a:rPr>
                        <a:t>/reports/:id</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ReportDetail</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View nested JSON</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GET /reports/:id</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91886">
                <a:tc>
                  <a:txBody>
                    <a:bodyPr/>
                    <a:lstStyle/>
                    <a:p>
                      <a:pPr indent="0" marL="0">
                        <a:buNone/>
                      </a:pPr>
                      <a:r>
                        <a:rPr lang="en-US" sz="1600" dirty="0">
                          <a:solidFill>
                            <a:srgbClr val="000000"/>
                          </a:solidFill>
                          <a:latin typeface="Arial" pitchFamily="34" charset="0"/>
                          <a:ea typeface="Arial" pitchFamily="34" charset="-122"/>
                          <a:cs typeface="Arial" pitchFamily="34" charset="-120"/>
                        </a:rPr>
                        <a:t>/query-playground</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QueryPlayground</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Run nested/agg queries</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GET /queries/nested</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391886">
                <a:tc>
                  <a:txBody>
                    <a:bodyPr/>
                    <a:lstStyle/>
                    <a:p>
                      <a:pPr indent="0" marL="0">
                        <a:buNone/>
                      </a:pPr>
                      <a:r>
                        <a:rPr lang="en-US" sz="1600" dirty="0">
                          <a:solidFill>
                            <a:srgbClr val="000000"/>
                          </a:solidFill>
                          <a:latin typeface="Arial" pitchFamily="34" charset="0"/>
                          <a:ea typeface="Arial" pitchFamily="34" charset="-122"/>
                          <a:cs typeface="Arial" pitchFamily="34" charset="-120"/>
                        </a:rPr>
                        <a:t>/bottlenecks</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Bottlenecks</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Show compatibility info</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(No API)</a:t>
                      </a:r>
                      <a:endParaRPr lang="en-US" sz="16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Data Model: Variable Schemas</a:t>
            </a:r>
            <a:endParaRPr lang="en-US" sz="3200" dirty="0"/>
          </a:p>
        </p:txBody>
      </p:sp>
      <p:sp>
        <p:nvSpPr>
          <p:cNvPr id="3" name="Shape 1"/>
          <p:cNvSpPr/>
          <p:nvPr/>
        </p:nvSpPr>
        <p:spPr>
          <a:xfrm>
            <a:off x="182880" y="1097280"/>
            <a:ext cx="2743200" cy="3474720"/>
          </a:xfrm>
          <a:prstGeom prst="rect">
            <a:avLst/>
          </a:prstGeom>
          <a:solidFill>
            <a:srgbClr val="F5F5F5"/>
          </a:solidFill>
          <a:ln w="12700">
            <a:solidFill>
              <a:srgbClr val="CCCCCC"/>
            </a:solidFill>
            <a:prstDash val="solid"/>
          </a:ln>
        </p:spPr>
      </p:sp>
      <p:sp>
        <p:nvSpPr>
          <p:cNvPr id="4" name="Text 2"/>
          <p:cNvSpPr/>
          <p:nvPr/>
        </p:nvSpPr>
        <p:spPr>
          <a:xfrm>
            <a:off x="182880" y="1097280"/>
            <a:ext cx="2743200" cy="365760"/>
          </a:xfrm>
          <a:prstGeom prst="rect">
            <a:avLst/>
          </a:prstGeom>
          <a:noFill/>
          <a:ln/>
        </p:spPr>
        <p:txBody>
          <a:bodyPr wrap="square" rtlCol="0" anchor="ctr"/>
          <a:lstStyle/>
          <a:p>
            <a:pPr algn="ctr" indent="0" marL="0">
              <a:buNone/>
            </a:pPr>
            <a:r>
              <a:rPr lang="en-US" sz="1600" b="1" dirty="0">
                <a:solidFill>
                  <a:srgbClr val="000000"/>
                </a:solidFill>
              </a:rPr>
              <a:t>Vehicle Inspection</a:t>
            </a:r>
            <a:endParaRPr lang="en-US" sz="1600" dirty="0"/>
          </a:p>
        </p:txBody>
      </p:sp>
      <p:sp>
        <p:nvSpPr>
          <p:cNvPr id="5" name="Text 3"/>
          <p:cNvSpPr/>
          <p:nvPr/>
        </p:nvSpPr>
        <p:spPr>
          <a:xfrm>
            <a:off x="274320" y="1463040"/>
            <a:ext cx="2560320" cy="2743200"/>
          </a:xfrm>
          <a:prstGeom prst="rect">
            <a:avLst/>
          </a:prstGeom>
          <a:noFill/>
          <a:ln/>
        </p:spPr>
        <p:txBody>
          <a:bodyPr wrap="square" rtlCol="0" anchor="ctr"/>
          <a:lstStyle/>
          <a:p>
            <a:pPr indent="0" marL="0">
              <a:buNone/>
            </a:pPr>
            <a:r>
              <a:rPr lang="en-US" sz="1600" dirty="0">
                <a:solidFill>
                  <a:srgbClr val="FF990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vehicleDetails: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make: 'Tata',</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fuelType: 'diesel'</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findings: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 component: 'brakes'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a:t>
            </a:r>
            <a:endParaRPr lang="en-US" sz="1600" dirty="0"/>
          </a:p>
        </p:txBody>
      </p:sp>
      <p:sp>
        <p:nvSpPr>
          <p:cNvPr id="6" name="Shape 4"/>
          <p:cNvSpPr/>
          <p:nvPr/>
        </p:nvSpPr>
        <p:spPr>
          <a:xfrm>
            <a:off x="3200400" y="1097280"/>
            <a:ext cx="2743200" cy="3474720"/>
          </a:xfrm>
          <a:prstGeom prst="rect">
            <a:avLst/>
          </a:prstGeom>
          <a:solidFill>
            <a:srgbClr val="F5F5F5"/>
          </a:solidFill>
          <a:ln w="12700">
            <a:solidFill>
              <a:srgbClr val="CCCCCC"/>
            </a:solidFill>
            <a:prstDash val="solid"/>
          </a:ln>
        </p:spPr>
      </p:sp>
      <p:sp>
        <p:nvSpPr>
          <p:cNvPr id="7" name="Text 5"/>
          <p:cNvSpPr/>
          <p:nvPr/>
        </p:nvSpPr>
        <p:spPr>
          <a:xfrm>
            <a:off x="3200400" y="1097280"/>
            <a:ext cx="2743200" cy="365760"/>
          </a:xfrm>
          <a:prstGeom prst="rect">
            <a:avLst/>
          </a:prstGeom>
          <a:noFill/>
          <a:ln/>
        </p:spPr>
        <p:txBody>
          <a:bodyPr wrap="square" rtlCol="0" anchor="ctr"/>
          <a:lstStyle/>
          <a:p>
            <a:pPr algn="ctr" indent="0" marL="0">
              <a:buNone/>
            </a:pPr>
            <a:r>
              <a:rPr lang="en-US" sz="1600" b="1" dirty="0">
                <a:solidFill>
                  <a:srgbClr val="000000"/>
                </a:solidFill>
              </a:rPr>
              <a:t>Building Inspection</a:t>
            </a:r>
            <a:endParaRPr lang="en-US" sz="1600" dirty="0"/>
          </a:p>
        </p:txBody>
      </p:sp>
      <p:sp>
        <p:nvSpPr>
          <p:cNvPr id="8" name="Text 6"/>
          <p:cNvSpPr/>
          <p:nvPr/>
        </p:nvSpPr>
        <p:spPr>
          <a:xfrm>
            <a:off x="3291840" y="1463040"/>
            <a:ext cx="2560320" cy="2743200"/>
          </a:xfrm>
          <a:prstGeom prst="rect">
            <a:avLst/>
          </a:prstGeom>
          <a:noFill/>
          <a:ln/>
        </p:spPr>
        <p:txBody>
          <a:bodyPr wrap="square" rtlCol="0" anchor="ctr"/>
          <a:lstStyle/>
          <a:p>
            <a:pPr indent="0" marL="0">
              <a:buNone/>
            </a:pPr>
            <a:r>
              <a:rPr lang="en-US" sz="1600" dirty="0">
                <a:solidFill>
                  <a:srgbClr val="FF990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buildingDetails: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floors: 12</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compliance: { fireCode: false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findings: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 area: 'plumbing'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a:t>
            </a:r>
            <a:endParaRPr lang="en-US" sz="1600" dirty="0"/>
          </a:p>
        </p:txBody>
      </p:sp>
      <p:sp>
        <p:nvSpPr>
          <p:cNvPr id="9" name="Shape 7"/>
          <p:cNvSpPr/>
          <p:nvPr/>
        </p:nvSpPr>
        <p:spPr>
          <a:xfrm>
            <a:off x="6217920" y="1097280"/>
            <a:ext cx="2743200" cy="3474720"/>
          </a:xfrm>
          <a:prstGeom prst="rect">
            <a:avLst/>
          </a:prstGeom>
          <a:solidFill>
            <a:srgbClr val="F5F5F5"/>
          </a:solidFill>
          <a:ln w="12700">
            <a:solidFill>
              <a:srgbClr val="CCCCCC"/>
            </a:solidFill>
            <a:prstDash val="solid"/>
          </a:ln>
        </p:spPr>
      </p:sp>
      <p:sp>
        <p:nvSpPr>
          <p:cNvPr id="10" name="Text 8"/>
          <p:cNvSpPr/>
          <p:nvPr/>
        </p:nvSpPr>
        <p:spPr>
          <a:xfrm>
            <a:off x="6217920" y="1097280"/>
            <a:ext cx="2743200" cy="365760"/>
          </a:xfrm>
          <a:prstGeom prst="rect">
            <a:avLst/>
          </a:prstGeom>
          <a:noFill/>
          <a:ln/>
        </p:spPr>
        <p:txBody>
          <a:bodyPr wrap="square" rtlCol="0" anchor="ctr"/>
          <a:lstStyle/>
          <a:p>
            <a:pPr algn="ctr" indent="0" marL="0">
              <a:buNone/>
            </a:pPr>
            <a:r>
              <a:rPr lang="en-US" sz="1600" b="1" dirty="0">
                <a:solidFill>
                  <a:srgbClr val="000000"/>
                </a:solidFill>
              </a:rPr>
              <a:t>Food Safety</a:t>
            </a:r>
            <a:endParaRPr lang="en-US" sz="1600" dirty="0"/>
          </a:p>
        </p:txBody>
      </p:sp>
      <p:sp>
        <p:nvSpPr>
          <p:cNvPr id="11" name="Text 9"/>
          <p:cNvSpPr/>
          <p:nvPr/>
        </p:nvSpPr>
        <p:spPr>
          <a:xfrm>
            <a:off x="6309360" y="1463040"/>
            <a:ext cx="2560320" cy="2743200"/>
          </a:xfrm>
          <a:prstGeom prst="rect">
            <a:avLst/>
          </a:prstGeom>
          <a:noFill/>
          <a:ln/>
        </p:spPr>
        <p:txBody>
          <a:bodyPr wrap="square" rtlCol="0" anchor="ctr"/>
          <a:lstStyle/>
          <a:p>
            <a:pPr indent="0" marL="0">
              <a:buNone/>
            </a:pPr>
            <a:r>
              <a:rPr lang="en-US" sz="1600" dirty="0">
                <a:solidFill>
                  <a:srgbClr val="FF990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temperatureLog: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 item: 'freezer_1'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findings: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 category: 'hygiene'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FF9900"/>
                </a:solidFill>
                <a:latin typeface="Courier New" pitchFamily="34" charset="0"/>
                <a:ea typeface="Courier New" pitchFamily="34" charset="-122"/>
                <a:cs typeface="Courier New" pitchFamily="34" charset="-120"/>
              </a:rPr>
              <a: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Nested Queries &amp; Aggregations</a:t>
            </a:r>
            <a:endParaRPr lang="en-US" sz="3200" dirty="0"/>
          </a:p>
        </p:txBody>
      </p:sp>
      <p:sp>
        <p:nvSpPr>
          <p:cNvPr id="3" name="Text 1"/>
          <p:cNvSpPr/>
          <p:nvPr/>
        </p:nvSpPr>
        <p:spPr>
          <a:xfrm>
            <a:off x="457200" y="1097280"/>
            <a:ext cx="8229600" cy="365760"/>
          </a:xfrm>
          <a:prstGeom prst="rect">
            <a:avLst/>
          </a:prstGeom>
          <a:noFill/>
          <a:ln/>
        </p:spPr>
        <p:txBody>
          <a:bodyPr wrap="square" rtlCol="0" anchor="ctr"/>
          <a:lstStyle/>
          <a:p>
            <a:pPr indent="0" marL="0">
              <a:buNone/>
            </a:pPr>
            <a:r>
              <a:rPr lang="en-US" sz="2000" b="1" dirty="0">
                <a:solidFill>
                  <a:srgbClr val="000080"/>
                </a:solidFill>
              </a:rPr>
              <a:t>1. Querying Nested Array Fields (High Severity)</a:t>
            </a:r>
            <a:endParaRPr lang="en-US" sz="2000" dirty="0"/>
          </a:p>
        </p:txBody>
      </p:sp>
      <p:sp>
        <p:nvSpPr>
          <p:cNvPr id="4" name="Text 2"/>
          <p:cNvSpPr/>
          <p:nvPr/>
        </p:nvSpPr>
        <p:spPr>
          <a:xfrm>
            <a:off x="457200" y="1463040"/>
            <a:ext cx="8229600" cy="365760"/>
          </a:xfrm>
          <a:prstGeom prst="rect">
            <a:avLst/>
          </a:prstGeom>
          <a:noFill/>
          <a:ln/>
        </p:spPr>
        <p:txBody>
          <a:bodyPr wrap="square" rtlCol="0" anchor="ctr"/>
          <a:lstStyle/>
          <a:p>
            <a:pPr indent="0" marL="0">
              <a:buNone/>
            </a:pPr>
            <a:r>
              <a:rPr lang="en-US" sz="1800" dirty="0">
                <a:solidFill>
                  <a:srgbClr val="FF9900"/>
                </a:solidFill>
                <a:latin typeface="Courier New" pitchFamily="34" charset="0"/>
                <a:ea typeface="Courier New" pitchFamily="34" charset="-122"/>
                <a:cs typeface="Courier New" pitchFamily="34" charset="-120"/>
              </a:rPr>
              <a:t>db.reports.find({ 'findings.severity': 'high' })</a:t>
            </a:r>
            <a:endParaRPr lang="en-US" sz="1800" dirty="0"/>
          </a:p>
        </p:txBody>
      </p:sp>
      <p:sp>
        <p:nvSpPr>
          <p:cNvPr id="5" name="Text 3"/>
          <p:cNvSpPr/>
          <p:nvPr/>
        </p:nvSpPr>
        <p:spPr>
          <a:xfrm>
            <a:off x="457200" y="2011680"/>
            <a:ext cx="8229600" cy="365760"/>
          </a:xfrm>
          <a:prstGeom prst="rect">
            <a:avLst/>
          </a:prstGeom>
          <a:noFill/>
          <a:ln/>
        </p:spPr>
        <p:txBody>
          <a:bodyPr wrap="square" rtlCol="0" anchor="ctr"/>
          <a:lstStyle/>
          <a:p>
            <a:pPr indent="0" marL="0">
              <a:buNone/>
            </a:pPr>
            <a:r>
              <a:rPr lang="en-US" sz="2000" b="1" dirty="0">
                <a:solidFill>
                  <a:srgbClr val="000080"/>
                </a:solidFill>
              </a:rPr>
              <a:t>2. Filtering by specific Schema Fields</a:t>
            </a:r>
            <a:endParaRPr lang="en-US" sz="2000" dirty="0"/>
          </a:p>
        </p:txBody>
      </p:sp>
      <p:sp>
        <p:nvSpPr>
          <p:cNvPr id="6" name="Text 4"/>
          <p:cNvSpPr/>
          <p:nvPr/>
        </p:nvSpPr>
        <p:spPr>
          <a:xfrm>
            <a:off x="457200" y="2377440"/>
            <a:ext cx="8229600" cy="365760"/>
          </a:xfrm>
          <a:prstGeom prst="rect">
            <a:avLst/>
          </a:prstGeom>
          <a:noFill/>
          <a:ln/>
        </p:spPr>
        <p:txBody>
          <a:bodyPr wrap="square" rtlCol="0" anchor="ctr"/>
          <a:lstStyle/>
          <a:p>
            <a:pPr indent="0" marL="0">
              <a:buNone/>
            </a:pPr>
            <a:r>
              <a:rPr lang="en-US" sz="1800" dirty="0">
                <a:solidFill>
                  <a:srgbClr val="FF9900"/>
                </a:solidFill>
                <a:latin typeface="Courier New" pitchFamily="34" charset="0"/>
                <a:ea typeface="Courier New" pitchFamily="34" charset="-122"/>
                <a:cs typeface="Courier New" pitchFamily="34" charset="-120"/>
              </a:rPr>
              <a:t>db.reports.find({ 'vehicleDetails.fuelType': 'diesel' })</a:t>
            </a:r>
            <a:endParaRPr lang="en-US" sz="1800" dirty="0"/>
          </a:p>
        </p:txBody>
      </p:sp>
      <p:sp>
        <p:nvSpPr>
          <p:cNvPr id="7" name="Text 5"/>
          <p:cNvSpPr/>
          <p:nvPr/>
        </p:nvSpPr>
        <p:spPr>
          <a:xfrm>
            <a:off x="457200" y="2926080"/>
            <a:ext cx="8229600" cy="365760"/>
          </a:xfrm>
          <a:prstGeom prst="rect">
            <a:avLst/>
          </a:prstGeom>
          <a:noFill/>
          <a:ln/>
        </p:spPr>
        <p:txBody>
          <a:bodyPr wrap="square" rtlCol="0" anchor="ctr"/>
          <a:lstStyle/>
          <a:p>
            <a:pPr indent="0" marL="0">
              <a:buNone/>
            </a:pPr>
            <a:r>
              <a:rPr lang="en-US" sz="2000" b="1" dirty="0">
                <a:solidFill>
                  <a:srgbClr val="000080"/>
                </a:solidFill>
              </a:rPr>
              <a:t>3. Aggregations (Count by Status)</a:t>
            </a:r>
            <a:endParaRPr lang="en-US" sz="2000" dirty="0"/>
          </a:p>
        </p:txBody>
      </p:sp>
      <p:sp>
        <p:nvSpPr>
          <p:cNvPr id="8" name="Text 6"/>
          <p:cNvSpPr/>
          <p:nvPr/>
        </p:nvSpPr>
        <p:spPr>
          <a:xfrm>
            <a:off x="457200" y="3291840"/>
            <a:ext cx="8229600" cy="640080"/>
          </a:xfrm>
          <a:prstGeom prst="rect">
            <a:avLst/>
          </a:prstGeom>
          <a:noFill/>
          <a:ln/>
        </p:spPr>
        <p:txBody>
          <a:bodyPr wrap="square" rtlCol="0" anchor="ctr"/>
          <a:lstStyle/>
          <a:p>
            <a:pPr indent="0" marL="0">
              <a:buNone/>
            </a:pPr>
            <a:r>
              <a:rPr lang="en-US" sz="1800" dirty="0">
                <a:solidFill>
                  <a:srgbClr val="FF9900"/>
                </a:solidFill>
                <a:latin typeface="Courier New" pitchFamily="34" charset="0"/>
                <a:ea typeface="Courier New" pitchFamily="34" charset="-122"/>
                <a:cs typeface="Courier New" pitchFamily="34" charset="-120"/>
              </a:rPr>
              <a:t>db.reports.aggregate([</a:t>
            </a:r>
            <a:endParaRPr lang="en-US" sz="1800" dirty="0"/>
          </a:p>
          <a:p>
            <a:pPr indent="0" marL="0">
              <a:buNone/>
            </a:pPr>
            <a:r>
              <a:rPr lang="en-US" sz="1800" dirty="0">
                <a:solidFill>
                  <a:srgbClr val="FF9900"/>
                </a:solidFill>
                <a:latin typeface="Courier New" pitchFamily="34" charset="0"/>
                <a:ea typeface="Courier New" pitchFamily="34" charset="-122"/>
                <a:cs typeface="Courier New" pitchFamily="34" charset="-120"/>
              </a:rPr>
              <a:t>  { $group: { _id: '$status', count: { $sum: 1 } } },</a:t>
            </a:r>
            <a:endParaRPr lang="en-US" sz="1800" dirty="0"/>
          </a:p>
          <a:p>
            <a:pPr indent="0" marL="0">
              <a:buNone/>
            </a:pPr>
            <a:r>
              <a:rPr lang="en-US" sz="1800" dirty="0">
                <a:solidFill>
                  <a:srgbClr val="FF9900"/>
                </a:solidFill>
                <a:latin typeface="Courier New" pitchFamily="34" charset="0"/>
                <a:ea typeface="Courier New" pitchFamily="34" charset="-122"/>
                <a:cs typeface="Courier New" pitchFamily="34" charset="-120"/>
              </a:rPr>
              <a:t>  { $sort: { count: -1 } }</a:t>
            </a:r>
            <a:endParaRPr lang="en-US" sz="1800" dirty="0"/>
          </a:p>
          <a:p>
            <a:pPr indent="0" marL="0">
              <a:buNone/>
            </a:pPr>
            <a:r>
              <a:rPr lang="en-US" sz="1800" dirty="0">
                <a:solidFill>
                  <a:srgbClr val="FF9900"/>
                </a:solidFill>
                <a:latin typeface="Courier New" pitchFamily="34" charset="0"/>
                <a:ea typeface="Courier New" pitchFamily="34" charset="-122"/>
                <a:cs typeface="Courier New" pitchFamily="34" charset="-120"/>
              </a:rPr>
              <a: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Bottleneck A: Compatibility Gaps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82880" y="1371600"/>
          <a:ext cx="8778240" cy="2743200"/>
        </p:xfrm>
        <a:graphic>
          <a:graphicData uri="http://schemas.openxmlformats.org/drawingml/2006/table">
            <a:tbl>
              <a:tblPr/>
              <a:tblGrid>
                <a:gridCol w="2194560"/>
                <a:gridCol w="2194560"/>
                <a:gridCol w="2194560"/>
                <a:gridCol w="2194560"/>
              </a:tblGrid>
              <a:tr h="548640">
                <a:tc>
                  <a:txBody>
                    <a:bodyPr/>
                    <a:lstStyle/>
                    <a:p>
                      <a:pPr indent="0" marL="0">
                        <a:buNone/>
                      </a:pPr>
                      <a:r>
                        <a:rPr lang="en-US" sz="1400" b="1" dirty="0">
                          <a:solidFill>
                            <a:srgbClr val="FFFFFF"/>
                          </a:solidFill>
                          <a:latin typeface="Arial" pitchFamily="34" charset="0"/>
                          <a:ea typeface="Arial" pitchFamily="34" charset="-122"/>
                          <a:cs typeface="Arial" pitchFamily="34" charset="-120"/>
                        </a:rPr>
                        <a:t>Feature</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What breaks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Our fix</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Observed Error</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9900"/>
                    </a:solidFill>
                  </a:tcPr>
                </a:tc>
              </a:tr>
              <a:tr h="548640">
                <a:tc>
                  <a:txBody>
                    <a:bodyPr/>
                    <a:lstStyle/>
                    <a:p>
                      <a:pPr indent="0" marL="0">
                        <a:buNone/>
                      </a:pPr>
                      <a:r>
                        <a:rPr lang="en-US" sz="1400" dirty="0">
                          <a:solidFill>
                            <a:srgbClr val="000000"/>
                          </a:solidFill>
                          <a:latin typeface="Arial" pitchFamily="34" charset="0"/>
                          <a:ea typeface="Arial" pitchFamily="34" charset="-122"/>
                          <a:cs typeface="Arial" pitchFamily="34" charset="-120"/>
                        </a:rPr>
                        <a:t>retryWrites=true (engine 5.0)</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Any write fails immediately</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Set retryWrites=false</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[insert from live test]</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548640">
                <a:tc>
                  <a:txBody>
                    <a:bodyPr/>
                    <a:lstStyle/>
                    <a:p>
                      <a:pPr indent="0" marL="0">
                        <a:buNone/>
                      </a:pPr>
                      <a:r>
                        <a:rPr lang="en-US" sz="1400" dirty="0">
                          <a:solidFill>
                            <a:srgbClr val="000000"/>
                          </a:solidFill>
                          <a:latin typeface="Arial" pitchFamily="34" charset="0"/>
                          <a:ea typeface="Arial" pitchFamily="34" charset="-122"/>
                          <a:cs typeface="Arial" pitchFamily="34" charset="-120"/>
                        </a:rPr>
                        <a:t>TLS Certificates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Requires AWS global CA bundle</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tlsCAFile=global-bundle.pem</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[insert from live test]</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548640">
                <a:tc>
                  <a:txBody>
                    <a:bodyPr/>
                    <a:lstStyle/>
                    <a:p>
                      <a:pPr indent="0" marL="0">
                        <a:buNone/>
                      </a:pPr>
                      <a:r>
                        <a:rPr lang="en-US" sz="1400" dirty="0">
                          <a:solidFill>
                            <a:srgbClr val="000000"/>
                          </a:solidFill>
                          <a:latin typeface="Arial" pitchFamily="34" charset="0"/>
                          <a:ea typeface="Arial" pitchFamily="34" charset="-122"/>
                          <a:cs typeface="Arial" pitchFamily="34" charset="-120"/>
                        </a:rPr>
                        <a:t>Topology</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[test before claiming]</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directConnection=true to the cluster endpoint</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[insert from live test]</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r h="548640">
                <a:tc>
                  <a:txBody>
                    <a:bodyPr/>
                    <a:lstStyle/>
                    <a:p>
                      <a:pPr indent="0" marL="0">
                        <a:buNone/>
                      </a:pPr>
                      <a:r>
                        <a:rPr lang="en-US" sz="1400" dirty="0">
                          <a:solidFill>
                            <a:srgbClr val="000000"/>
                          </a:solidFill>
                          <a:latin typeface="Arial" pitchFamily="34" charset="0"/>
                          <a:ea typeface="Arial" pitchFamily="34" charset="-122"/>
                          <a:cs typeface="Arial" pitchFamily="34" charset="-120"/>
                        </a:rPr>
                        <a:t>$text / text indexes</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Supported, but tokenisation differs from MongoDB</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Use case-insensitive $regex for tag search</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[insert from live test]</a:t>
                      </a:r>
                      <a:endParaRPr lang="en-US" sz="1400" dirty="0">
                        <a:latin typeface="Arial" charset="0"/>
                        <a:ea typeface="Arial" charset="0"/>
                        <a:cs typeface="Arial" charset="0"/>
                      </a:endParaRPr>
                    </a:p>
                  </a:txBody>
                  <a:tcPr marL="91440" marR="91440" marT="45720" marB="45720">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Bottleneck B: Cost Management</a:t>
            </a:r>
            <a:endParaRPr lang="en-US" sz="3200" dirty="0"/>
          </a:p>
        </p:txBody>
      </p:sp>
      <p:sp>
        <p:nvSpPr>
          <p:cNvPr id="3" name="Text 1"/>
          <p:cNvSpPr/>
          <p:nvPr/>
        </p:nvSpPr>
        <p:spPr>
          <a:xfrm>
            <a:off x="457200" y="1371600"/>
            <a:ext cx="8229600" cy="182880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Cluster cost is high for a small workload.</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We provision 1 instance on the smallest class (t3.medium).</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We stop the cluster when idle to save compute costs.</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We will delete the cluster at the end of the project.</a:t>
            </a:r>
            <a:endParaRPr lang="en-US" sz="2000" dirty="0"/>
          </a:p>
        </p:txBody>
      </p:sp>
      <p:sp>
        <p:nvSpPr>
          <p:cNvPr id="4" name="Shape 2"/>
          <p:cNvSpPr/>
          <p:nvPr/>
        </p:nvSpPr>
        <p:spPr>
          <a:xfrm>
            <a:off x="457200" y="3200400"/>
            <a:ext cx="3840480" cy="1371600"/>
          </a:xfrm>
          <a:prstGeom prst="rect">
            <a:avLst/>
          </a:prstGeom>
          <a:solidFill>
            <a:srgbClr val="EEEEEE"/>
          </a:solidFill>
          <a:ln w="12700">
            <a:solidFill>
              <a:srgbClr val="000080"/>
            </a:solidFill>
            <a:prstDash val="solid"/>
          </a:ln>
        </p:spPr>
      </p:sp>
      <p:sp>
        <p:nvSpPr>
          <p:cNvPr id="5" name="Text 3"/>
          <p:cNvSpPr/>
          <p:nvPr/>
        </p:nvSpPr>
        <p:spPr>
          <a:xfrm>
            <a:off x="457200" y="3200400"/>
            <a:ext cx="3840480" cy="1371600"/>
          </a:xfrm>
          <a:prstGeom prst="rect">
            <a:avLst/>
          </a:prstGeom>
          <a:noFill/>
          <a:ln/>
        </p:spPr>
        <p:txBody>
          <a:bodyPr wrap="square" rtlCol="0" anchor="ctr"/>
          <a:lstStyle/>
          <a:p>
            <a:pPr algn="ctr" indent="0" marL="0">
              <a:buNone/>
            </a:pPr>
            <a:r>
              <a:rPr lang="en-US" sz="1600" dirty="0">
                <a:solidFill>
                  <a:srgbClr val="000000"/>
                </a:solidFill>
              </a:rPr>
              <a:t>[insert screenshot of budget]</a:t>
            </a:r>
            <a:endParaRPr lang="en-US" sz="1600" dirty="0"/>
          </a:p>
        </p:txBody>
      </p:sp>
      <p:sp>
        <p:nvSpPr>
          <p:cNvPr id="6" name="Shape 4"/>
          <p:cNvSpPr/>
          <p:nvPr/>
        </p:nvSpPr>
        <p:spPr>
          <a:xfrm>
            <a:off x="4572000" y="3200400"/>
            <a:ext cx="3840480" cy="1371600"/>
          </a:xfrm>
          <a:prstGeom prst="rect">
            <a:avLst/>
          </a:prstGeom>
          <a:solidFill>
            <a:srgbClr val="EEEEEE"/>
          </a:solidFill>
          <a:ln w="12700">
            <a:solidFill>
              <a:srgbClr val="000080"/>
            </a:solidFill>
            <a:prstDash val="solid"/>
          </a:ln>
        </p:spPr>
      </p:sp>
      <p:sp>
        <p:nvSpPr>
          <p:cNvPr id="7" name="Text 5"/>
          <p:cNvSpPr/>
          <p:nvPr/>
        </p:nvSpPr>
        <p:spPr>
          <a:xfrm>
            <a:off x="4572000" y="3200400"/>
            <a:ext cx="3840480" cy="1371600"/>
          </a:xfrm>
          <a:prstGeom prst="rect">
            <a:avLst/>
          </a:prstGeom>
          <a:noFill/>
          <a:ln/>
        </p:spPr>
        <p:txBody>
          <a:bodyPr wrap="square" rtlCol="0" anchor="ctr"/>
          <a:lstStyle/>
          <a:p>
            <a:pPr algn="ctr" indent="0" marL="0">
              <a:buNone/>
            </a:pPr>
            <a:r>
              <a:rPr lang="en-US" sz="1600" dirty="0">
                <a:solidFill>
                  <a:srgbClr val="000000"/>
                </a:solidFill>
              </a:rPr>
              <a:t>[insert screenshot of cost]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137160"/>
            <a:ext cx="8229600" cy="4572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Demo Flow &amp; Conclusion</a:t>
            </a:r>
            <a:endParaRPr lang="en-US" sz="3200" dirty="0"/>
          </a:p>
        </p:txBody>
      </p:sp>
      <p:sp>
        <p:nvSpPr>
          <p:cNvPr id="3" name="Text 1"/>
          <p:cNvSpPr/>
          <p:nvPr/>
        </p:nvSpPr>
        <p:spPr>
          <a:xfrm>
            <a:off x="457200" y="1371600"/>
            <a:ext cx="8229600" cy="2743200"/>
          </a:xfrm>
          <a:prstGeom prst="rect">
            <a:avLst/>
          </a:prstGeom>
          <a:noFill/>
          <a:ln/>
        </p:spPr>
        <p:txBody>
          <a:bodyPr wrap="square" rtlCol="0" anchor="ctr"/>
          <a:lstStyle/>
          <a:p>
            <a:pPr marL="342900" indent="-342900">
              <a:buSzPct val="100000"/>
              <a:buChar char="•"/>
            </a:pPr>
            <a:r>
              <a:rPr lang="en-US" sz="2000" dirty="0">
                <a:solidFill>
                  <a:srgbClr val="000000"/>
                </a:solidFill>
                <a:latin typeface="Arial" pitchFamily="34" charset="0"/>
                <a:ea typeface="Arial" pitchFamily="34" charset="-122"/>
                <a:cs typeface="Arial" pitchFamily="34" charset="-120"/>
              </a:rPr>
              <a:t>1. Introduction &amp; 2. AWS Architecture</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3. Dashboard Overview &amp; 4. Create a Vehicle Report</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5. Create a Completely Different Type</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6. Report Detail &amp; Nested JSON</a:t>
            </a:r>
            <a:endParaRPr lang="en-US" sz="2000" dirty="0"/>
          </a:p>
          <a:p>
            <a:pPr marL="342900" indent="-342900">
              <a:buSzPct val="100000"/>
              <a:buChar char="•"/>
            </a:pPr>
            <a:r>
              <a:rPr lang="en-US" sz="2000" dirty="0">
                <a:solidFill>
                  <a:srgbClr val="000000"/>
                </a:solidFill>
                <a:latin typeface="Arial" pitchFamily="34" charset="0"/>
                <a:ea typeface="Arial" pitchFamily="34" charset="-122"/>
                <a:cs typeface="Arial" pitchFamily="34" charset="-120"/>
              </a:rPr>
              <a:t>7. Query Playground &amp; 8. Bottleneck Handling</a:t>
            </a:r>
            <a:endParaRPr lang="en-US" sz="2000" dirty="0"/>
          </a:p>
        </p:txBody>
      </p:sp>
      <p:sp>
        <p:nvSpPr>
          <p:cNvPr id="4" name="Shape 2"/>
          <p:cNvSpPr/>
          <p:nvPr/>
        </p:nvSpPr>
        <p:spPr>
          <a:xfrm>
            <a:off x="457200" y="4114800"/>
            <a:ext cx="8229600" cy="731520"/>
          </a:xfrm>
          <a:prstGeom prst="rect">
            <a:avLst/>
          </a:prstGeom>
          <a:solidFill>
            <a:srgbClr val="FF9900"/>
          </a:solidFill>
          <a:ln/>
        </p:spPr>
      </p:sp>
      <p:sp>
        <p:nvSpPr>
          <p:cNvPr id="5" name="Text 3"/>
          <p:cNvSpPr/>
          <p:nvPr/>
        </p:nvSpPr>
        <p:spPr>
          <a:xfrm>
            <a:off x="457200" y="4114800"/>
            <a:ext cx="8229600" cy="731520"/>
          </a:xfrm>
          <a:prstGeom prst="rect">
            <a:avLst/>
          </a:prstGeom>
          <a:noFill/>
          <a:ln/>
        </p:spPr>
        <p:txBody>
          <a:bodyPr wrap="square" rtlCol="0" anchor="ctr"/>
          <a:lstStyle/>
          <a:p>
            <a:pPr algn="ctr" indent="0" marL="0">
              <a:buNone/>
            </a:pPr>
            <a:r>
              <a:rPr lang="en-US" sz="1800" b="1" dirty="0">
                <a:solidFill>
                  <a:srgbClr val="FFFFFF"/>
                </a:solidFill>
              </a:rPr>
              <a:t>DocumentDB stores variable-schema reports in one collection and supports nested queries, with two manageable bottlenecks.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2026-10-03T17:27:27Z</dcterms:created>
  <dcterms:modified xsi:type="dcterms:W3CDTF">2026-10-03T17:27:27Z</dcterms:modified>
</cp:coreProperties>
</file>