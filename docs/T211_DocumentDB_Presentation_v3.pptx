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Amazon DocumentDB for the T211 Document-Oriented Inspection App. Today we cover the problem, our solution, the architecture,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problem is that inspection reports of different types have completely different fields. A relational table cannot accommodate this without empty columns or complex joins. A document database stores each report as a self-contained JSON object, solving this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let us agree on terms. A document is a JSON record; a collection holds many documents regardless of their shape. Variable schema means those documents need not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databases force a fixed column set on every row. For our multi-type reports that leads to sparse columns or many tables. A document model stores each report as a single self-contained object, requiring no joins and no schema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Amazon DocumentDB, a fully managed document database compatible with the MongoDB API. It stores all report types in one collection without schema migrations. We address two bottlenecks: driver compatibility gaps and cluster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runs our React frontend and talks to an Express API on an EC2 instance. The API uses the MongoDB Node driver v5 configured specifically for DocumentDB. Everything is secured inside an AWS VPC with two security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in our React app maps to a route in App.jsx. The API column shows real HTTP method and path from api.js. The Bottlenecks page is a static React component with no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sample documents from seedData.js, all in the same reports collection. Each highlights its type-specific field: vehicleDetails (with severity-rated findings), buildingDetails plus compliance.fireCode, and temperatureLog. The findings array shape differs per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queries come directly from queryController.js. Query 1 uses dot notation into the findings array; Query 2 filters by a vehicle-specific nested field; Query 3 is the reportsByStatus aggregation pipeline that powers the dashboard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confirmed from AWS documentation. The last row lists features that must be tested on our cluster during demo setup before we can describe them as gaps. We never invent error messages; the Observed column stays as a placeholder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bottleneck is cluster cost. We minimise it with one small instance and a strict stop-when-idle routine. AWS also restarts a stopped cluster after 7 days, so plan accordingly. The two placeholders here should be replaced with console screenshots before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eight-step demo walks through creating reports of different types, querying nested data, and showing the compatibility and cost mitigations. The takeaway is that DocumentDB stores variable-schema reports in one collection, supports nested queries, and has two manageable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SKILL.md is a set of standing instructions we wrote so that an AI assistant gives consistent, factually correct help with this codebase. mcp.md is documentation about what MCP servers could connect to live AWS tools. No MCP server is installed or running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on this slide maps to actual code. The two security groups are defined in PHASE1_AWS_SETUP.md and SKILL.md. The TLS guard is in database.js. The playground gate and operator allow-list are both in queryController.js. Nothing here is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008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0"/>
        </a:solidFill>
      </p:bgPr>
    </p:bg>
    <p:spTree>
      <p:nvGrpSpPr>
        <p:cNvPr id="1" name=""/>
        <p:cNvGrpSpPr/>
        <p:nvPr/>
      </p:nvGrpSpPr>
      <p:grpSpPr>
        <a:xfrm>
          <a:off x="0" y="0"/>
          <a:ext cx="0" cy="0"/>
          <a:chOff x="0" y="0"/>
          <a:chExt cx="0" cy="0"/>
        </a:xfrm>
      </p:grpSpPr>
      <p:sp>
        <p:nvSpPr>
          <p:cNvPr id="2" name="Text 0"/>
          <p:cNvSpPr/>
          <p:nvPr/>
        </p:nvSpPr>
        <p:spPr>
          <a:xfrm>
            <a:off x="914400" y="2286000"/>
            <a:ext cx="7315200" cy="13716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Amazon DocumentDB for a Document-Oriented Application</a:t>
            </a:r>
            <a:endParaRPr lang="en-US" sz="4000" dirty="0"/>
          </a:p>
        </p:txBody>
      </p:sp>
      <p:sp>
        <p:nvSpPr>
          <p:cNvPr id="3" name="Text 1"/>
          <p:cNvSpPr/>
          <p:nvPr/>
        </p:nvSpPr>
        <p:spPr>
          <a:xfrm>
            <a:off x="914400" y="3657600"/>
            <a:ext cx="7315200" cy="457200"/>
          </a:xfrm>
          <a:prstGeom prst="rect">
            <a:avLst/>
          </a:prstGeom>
          <a:noFill/>
          <a:ln/>
        </p:spPr>
        <p:txBody>
          <a:bodyPr wrap="square" rtlCol="0" anchor="ctr"/>
          <a:lstStyle/>
          <a:p>
            <a:pPr algn="ctr" indent="0" marL="0">
              <a:buNone/>
            </a:pPr>
            <a:r>
              <a:rPr lang="en-US" sz="2400" dirty="0">
                <a:solidFill>
                  <a:srgbClr val="FF9900"/>
                </a:solidFill>
                <a:latin typeface="Arial" pitchFamily="34" charset="0"/>
                <a:ea typeface="Arial" pitchFamily="34" charset="-122"/>
                <a:cs typeface="Arial" pitchFamily="34" charset="-120"/>
              </a:rPr>
              <a:t>Team T211</a:t>
            </a:r>
            <a:endParaRPr lang="en-US" sz="24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2026-10-03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Problem: Variable Schemas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 relational table gives every row the same columns.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Reports with different fields need many empty columns or many tables.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 document database stores each report as one flexible JSON document.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Queries must also reach inside nested arrays — for example, findings.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Key Terms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743200"/>
        </p:xfrm>
        <a:graphic>
          <a:graphicData uri="http://schemas.openxmlformats.org/drawingml/2006/table">
            <a:tbl>
              <a:tblPr/>
              <a:tblGrid>
                <a:gridCol w="2743200"/>
                <a:gridCol w="5486400"/>
              </a:tblGrid>
              <a:tr h="457200">
                <a:tc>
                  <a:txBody>
                    <a:bodyPr/>
                    <a:lstStyle/>
                    <a:p>
                      <a:pPr indent="0" marL="0">
                        <a:buNone/>
                      </a:pPr>
                      <a:r>
                        <a:rPr lang="en-US" sz="2000" b="1" dirty="0">
                          <a:solidFill>
                            <a:srgbClr val="FFFFFF"/>
                          </a:solidFill>
                          <a:latin typeface="Arial" pitchFamily="34" charset="0"/>
                          <a:ea typeface="Arial" pitchFamily="34" charset="-122"/>
                          <a:cs typeface="Arial" pitchFamily="34" charset="-120"/>
                        </a:rPr>
                        <a:t>Term</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2000" b="1" dirty="0">
                          <a:solidFill>
                            <a:srgbClr val="FFFFFF"/>
                          </a:solidFill>
                          <a:latin typeface="Arial" pitchFamily="34" charset="0"/>
                          <a:ea typeface="Arial" pitchFamily="34" charset="-122"/>
                          <a:cs typeface="Arial" pitchFamily="34" charset="-120"/>
                        </a:rPr>
                        <a:t>Definition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flexible JSON record — one per inspection report.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Collection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group of documents, like a table with no fixed columns.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Variable Schema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Documents in one collection with completely different fields.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Nested Data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Arrays and objects stored inside the main 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Query</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request to find, filter, or aggregate documents.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Not Relational Tables?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Rigid tables lead to sparse columns with many NULL values.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Creating a table per report type is difficult to manage.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Nested findings require complex multi-table joins.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Migrations cause downtime when adding new fields.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One JSON document per report avoids all of the above.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Solution: Amazon DocumentDB</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Amazon DocumentDB stores all report types in one collection.</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Fully managed, scalable, and compatible with MongoDB.</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Handles nested JSON structures natively for easy querying.</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address driver compatibility gaps.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control cost with a small cluster and a stop/delete routine.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Architecture Overview</a:t>
            </a:r>
            <a:endParaRPr lang="en-US" sz="3200" dirty="0"/>
          </a:p>
        </p:txBody>
      </p:sp>
      <p:sp>
        <p:nvSpPr>
          <p:cNvPr id="3" name="Shape 1"/>
          <p:cNvSpPr/>
          <p:nvPr/>
        </p:nvSpPr>
        <p:spPr>
          <a:xfrm>
            <a:off x="457200" y="1371600"/>
            <a:ext cx="1645920" cy="914400"/>
          </a:xfrm>
          <a:prstGeom prst="rect">
            <a:avLst/>
          </a:prstGeom>
          <a:solidFill>
            <a:srgbClr val="EEEEEE"/>
          </a:solidFill>
          <a:ln w="12700">
            <a:solidFill>
              <a:srgbClr val="000080"/>
            </a:solidFill>
            <a:prstDash val="solid"/>
          </a:ln>
        </p:spPr>
        <p:txBody>
          <a:bodyPr/>
          <a:p/>
        </p:txBody>
      </p:sp>
      <p:sp>
        <p:nvSpPr>
          <p:cNvPr id="4" name="Text 2"/>
          <p:cNvSpPr/>
          <p:nvPr/>
        </p:nvSpPr>
        <p:spPr>
          <a:xfrm>
            <a:off x="457200" y="1371600"/>
            <a:ext cx="1645920" cy="914400"/>
          </a:xfrm>
          <a:prstGeom prst="rect">
            <a:avLst/>
          </a:prstGeom>
          <a:noFill/>
          <a:ln/>
        </p:spPr>
        <p:txBody>
          <a:bodyPr wrap="square" rtlCol="0" anchor="ctr"/>
          <a:lstStyle/>
          <a:p>
            <a:pPr algn="ctr" indent="0" marL="0">
              <a:buNone/>
            </a:pPr>
            <a:r>
              <a:rPr lang="en-US" sz="1600" dirty="0">
                <a:solidFill>
                  <a:srgbClr val="000000"/>
                </a:solidFill>
              </a:rPr>
              <a:t>Browser</a:t>
            </a:r>
            <a:endParaRPr lang="en-US" sz="1600" dirty="0"/>
          </a:p>
          <a:p>
            <a:pPr algn="ctr" indent="0" marL="0">
              <a:buNone/>
            </a:pPr>
            <a:r>
              <a:rPr lang="en-US" sz="1600" dirty="0">
                <a:solidFill>
                  <a:srgbClr val="000000"/>
                </a:solidFill>
              </a:rPr>
              <a:t>(React UI)</a:t>
            </a:r>
            <a:endParaRPr lang="en-US" sz="1600" dirty="0"/>
          </a:p>
        </p:txBody>
      </p:sp>
      <p:sp>
        <p:nvSpPr>
          <p:cNvPr id="5" name="Shape 3"/>
          <p:cNvSpPr/>
          <p:nvPr/>
        </p:nvSpPr>
        <p:spPr>
          <a:xfrm>
            <a:off x="2103120" y="1645920"/>
            <a:ext cx="548640" cy="365760"/>
          </a:xfrm>
          <a:prstGeom prst="rightArrow">
            <a:avLst/>
          </a:prstGeom>
          <a:solidFill>
            <a:srgbClr val="FF9900"/>
          </a:solidFill>
          <a:ln/>
        </p:spPr>
        <p:txBody>
          <a:bodyPr/>
          <a:p/>
        </p:txBody>
      </p:sp>
      <p:sp>
        <p:nvSpPr>
          <p:cNvPr id="6" name="Shape 4"/>
          <p:cNvSpPr/>
          <p:nvPr/>
        </p:nvSpPr>
        <p:spPr>
          <a:xfrm>
            <a:off x="2651760" y="1371600"/>
            <a:ext cx="1828800" cy="914400"/>
          </a:xfrm>
          <a:prstGeom prst="rect">
            <a:avLst/>
          </a:prstGeom>
          <a:solidFill>
            <a:srgbClr val="EEEEEE"/>
          </a:solidFill>
          <a:ln w="12700">
            <a:solidFill>
              <a:srgbClr val="000080"/>
            </a:solidFill>
            <a:prstDash val="solid"/>
          </a:ln>
        </p:spPr>
        <p:txBody>
          <a:bodyPr/>
          <a:p/>
        </p:txBody>
      </p:sp>
      <p:sp>
        <p:nvSpPr>
          <p:cNvPr id="7" name="Text 5"/>
          <p:cNvSpPr/>
          <p:nvPr/>
        </p:nvSpPr>
        <p:spPr>
          <a:xfrm>
            <a:off x="2651760" y="1371600"/>
            <a:ext cx="1828800" cy="914400"/>
          </a:xfrm>
          <a:prstGeom prst="rect">
            <a:avLst/>
          </a:prstGeom>
          <a:noFill/>
          <a:ln/>
        </p:spPr>
        <p:txBody>
          <a:bodyPr wrap="square" rtlCol="0" anchor="ctr"/>
          <a:lstStyle/>
          <a:p>
            <a:pPr algn="ctr" indent="0" marL="0">
              <a:buNone/>
            </a:pPr>
            <a:r>
              <a:rPr lang="en-US" sz="1600" dirty="0">
                <a:solidFill>
                  <a:srgbClr val="000000"/>
                </a:solidFill>
              </a:rPr>
              <a:t>Express API</a:t>
            </a:r>
            <a:endParaRPr lang="en-US" sz="1600" dirty="0"/>
          </a:p>
          <a:p>
            <a:pPr algn="ctr" indent="0" marL="0">
              <a:buNone/>
            </a:pPr>
            <a:r>
              <a:rPr lang="en-US" sz="1600" dirty="0">
                <a:solidFill>
                  <a:srgbClr val="000000"/>
                </a:solidFill>
              </a:rPr>
              <a:t>(EC2 Server)</a:t>
            </a:r>
            <a:endParaRPr lang="en-US" sz="1600" dirty="0"/>
          </a:p>
        </p:txBody>
      </p:sp>
      <p:sp>
        <p:nvSpPr>
          <p:cNvPr id="8" name="Shape 6"/>
          <p:cNvSpPr/>
          <p:nvPr/>
        </p:nvSpPr>
        <p:spPr>
          <a:xfrm>
            <a:off x="4480560" y="1645920"/>
            <a:ext cx="548640" cy="365760"/>
          </a:xfrm>
          <a:prstGeom prst="rightArrow">
            <a:avLst/>
          </a:prstGeom>
          <a:solidFill>
            <a:srgbClr val="FF9900"/>
          </a:solidFill>
          <a:ln/>
        </p:spPr>
        <p:txBody>
          <a:bodyPr/>
          <a:p/>
        </p:txBody>
      </p:sp>
      <p:sp>
        <p:nvSpPr>
          <p:cNvPr id="9" name="Shape 7"/>
          <p:cNvSpPr/>
          <p:nvPr/>
        </p:nvSpPr>
        <p:spPr>
          <a:xfrm>
            <a:off x="5029200" y="1188720"/>
            <a:ext cx="2011680" cy="1280160"/>
          </a:xfrm>
          <a:prstGeom prst="rect">
            <a:avLst/>
          </a:prstGeom>
          <a:solidFill>
            <a:srgbClr val="EEEEEE"/>
          </a:solidFill>
          <a:ln w="12700">
            <a:solidFill>
              <a:srgbClr val="000080"/>
            </a:solidFill>
            <a:prstDash val="solid"/>
          </a:ln>
        </p:spPr>
        <p:txBody>
          <a:bodyPr/>
          <a:p/>
        </p:txBody>
      </p:sp>
      <p:sp>
        <p:nvSpPr>
          <p:cNvPr id="10" name="Text 8"/>
          <p:cNvSpPr/>
          <p:nvPr/>
        </p:nvSpPr>
        <p:spPr>
          <a:xfrm>
            <a:off x="5029200" y="1188720"/>
            <a:ext cx="2011680" cy="1280160"/>
          </a:xfrm>
          <a:prstGeom prst="rect">
            <a:avLst/>
          </a:prstGeom>
          <a:noFill/>
          <a:ln/>
        </p:spPr>
        <p:txBody>
          <a:bodyPr wrap="square" rtlCol="0" anchor="ctr"/>
          <a:lstStyle/>
          <a:p>
            <a:pPr algn="ctr" indent="0" marL="0">
              <a:buNone/>
            </a:pPr>
            <a:r>
              <a:rPr lang="en-US" sz="1400" dirty="0">
                <a:solidFill>
                  <a:srgbClr val="000000"/>
                </a:solidFill>
              </a:rPr>
              <a:t>MongoDB Node Driver v5</a:t>
            </a:r>
            <a:endParaRPr lang="en-US" sz="1400" dirty="0"/>
          </a:p>
          <a:p>
            <a:pPr algn="ctr" indent="0" marL="0">
              <a:buNone/>
            </a:pPr>
            <a:r>
              <a:rPr lang="en-US" sz="1400" dirty="0">
                <a:solidFill>
                  <a:srgbClr val="000000"/>
                </a:solidFill>
              </a:rPr>
              <a:t>(TLS, retryWrites=false)</a:t>
            </a:r>
            <a:endParaRPr lang="en-US" sz="1400" dirty="0"/>
          </a:p>
        </p:txBody>
      </p:sp>
      <p:sp>
        <p:nvSpPr>
          <p:cNvPr id="11" name="Shape 9"/>
          <p:cNvSpPr/>
          <p:nvPr/>
        </p:nvSpPr>
        <p:spPr>
          <a:xfrm>
            <a:off x="7040880" y="1645920"/>
            <a:ext cx="548640" cy="365760"/>
          </a:xfrm>
          <a:prstGeom prst="rightArrow">
            <a:avLst/>
          </a:prstGeom>
          <a:solidFill>
            <a:srgbClr val="FF9900"/>
          </a:solidFill>
          <a:ln/>
        </p:spPr>
        <p:txBody>
          <a:bodyPr/>
          <a:p/>
        </p:txBody>
      </p:sp>
      <p:sp>
        <p:nvSpPr>
          <p:cNvPr id="12" name="Shape 10"/>
          <p:cNvSpPr/>
          <p:nvPr/>
        </p:nvSpPr>
        <p:spPr>
          <a:xfrm>
            <a:off x="7589520" y="1188720"/>
            <a:ext cx="1371600" cy="1280160"/>
          </a:xfrm>
          <a:prstGeom prst="can">
            <a:avLst/>
          </a:prstGeom>
          <a:solidFill>
            <a:srgbClr val="000080"/>
          </a:solidFill>
          <a:ln/>
        </p:spPr>
        <p:txBody>
          <a:bodyPr/>
          <a:p/>
        </p:txBody>
      </p:sp>
      <p:sp>
        <p:nvSpPr>
          <p:cNvPr id="13" name="Text 11"/>
          <p:cNvSpPr/>
          <p:nvPr/>
        </p:nvSpPr>
        <p:spPr>
          <a:xfrm>
            <a:off x="7589520" y="1188720"/>
            <a:ext cx="1371600" cy="1280160"/>
          </a:xfrm>
          <a:prstGeom prst="rect">
            <a:avLst/>
          </a:prstGeom>
          <a:noFill/>
          <a:ln/>
        </p:spPr>
        <p:txBody>
          <a:bodyPr wrap="square" rtlCol="0" anchor="ctr"/>
          <a:lstStyle/>
          <a:p>
            <a:pPr algn="ctr" indent="0" marL="0">
              <a:buNone/>
            </a:pPr>
            <a:r>
              <a:rPr lang="en-US" sz="1400" dirty="0">
                <a:solidFill>
                  <a:srgbClr val="FFFFFF"/>
                </a:solidFill>
              </a:rPr>
              <a:t>Amazon</a:t>
            </a:r>
            <a:endParaRPr lang="en-US" sz="1400" dirty="0"/>
          </a:p>
          <a:p>
            <a:pPr algn="ctr" indent="0" marL="0">
              <a:buNone/>
            </a:pPr>
            <a:r>
              <a:rPr lang="en-US" sz="1400" dirty="0">
                <a:solidFill>
                  <a:srgbClr val="FFFFFF"/>
                </a:solidFill>
              </a:rPr>
              <a:t>DocumentDB</a:t>
            </a:r>
            <a:endParaRPr lang="en-US" sz="1400" dirty="0"/>
          </a:p>
          <a:p>
            <a:pPr algn="ctr" indent="0" marL="0">
              <a:buNone/>
            </a:pPr>
            <a:r>
              <a:rPr lang="en-US" sz="1400" dirty="0">
                <a:solidFill>
                  <a:srgbClr val="FFFFFF"/>
                </a:solidFill>
              </a:rPr>
              <a:t>Cluster</a:t>
            </a:r>
            <a:endParaRPr lang="en-US" sz="1400" dirty="0"/>
          </a:p>
        </p:txBody>
      </p:sp>
      <p:sp>
        <p:nvSpPr>
          <p:cNvPr id="14" name="Shape 12"/>
          <p:cNvSpPr/>
          <p:nvPr/>
        </p:nvSpPr>
        <p:spPr>
          <a:xfrm>
            <a:off x="2468880" y="914400"/>
            <a:ext cx="6675120" cy="1828800"/>
          </a:xfrm>
          <a:prstGeom prst="rect">
            <a:avLst/>
          </a:prstGeom>
          <a:solidFill>
            <a:srgbClr val="FFFFFF">
              <a:alpha val="0"/>
            </a:srgbClr>
          </a:solidFill>
          <a:ln w="12700">
            <a:solidFill>
              <a:srgbClr val="FF9900"/>
            </a:solidFill>
            <a:prstDash val="dash"/>
          </a:ln>
        </p:spPr>
        <p:txBody>
          <a:bodyPr/>
          <a:p/>
        </p:txBody>
      </p:sp>
      <p:sp>
        <p:nvSpPr>
          <p:cNvPr id="15" name="Text 13"/>
          <p:cNvSpPr/>
          <p:nvPr/>
        </p:nvSpPr>
        <p:spPr>
          <a:xfrm>
            <a:off x="2468880" y="2834640"/>
            <a:ext cx="6675120" cy="274320"/>
          </a:xfrm>
          <a:prstGeom prst="rect">
            <a:avLst/>
          </a:prstGeom>
          <a:noFill/>
          <a:ln/>
        </p:spPr>
        <p:txBody>
          <a:bodyPr wrap="square" rtlCol="0" anchor="ctr"/>
          <a:lstStyle/>
          <a:p>
            <a:pPr algn="ctr" indent="0" marL="0">
              <a:buNone/>
            </a:pPr>
            <a:r>
              <a:rPr lang="en-US" sz="1600" dirty="0">
                <a:solidFill>
                  <a:srgbClr val="FF9900"/>
                </a:solidFill>
              </a:rPr>
              <a:t>AWS VPC (Security Groups)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Website Pages &amp; API Calls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3474720"/>
        </p:xfrm>
        <a:graphic>
          <a:graphicData uri="http://schemas.openxmlformats.org/drawingml/2006/table">
            <a:tbl>
              <a:tblPr/>
              <a:tblGrid>
                <a:gridCol w="2148840"/>
                <a:gridCol w="2148840"/>
                <a:gridCol w="2148840"/>
                <a:gridCol w="2148840"/>
              </a:tblGrid>
              <a:tr h="496389">
                <a:tc>
                  <a:txBody>
                    <a:bodyPr/>
                    <a:lstStyle/>
                    <a:p>
                      <a:pPr indent="0" marL="0">
                        <a:buNone/>
                      </a:pPr>
                      <a:r>
                        <a:rPr lang="en-US" sz="1400" b="1" dirty="0">
                          <a:solidFill>
                            <a:srgbClr val="FFFFFF"/>
                          </a:solidFill>
                          <a:latin typeface="Arial" pitchFamily="34" charset="0"/>
                          <a:ea typeface="Arial" pitchFamily="34" charset="-122"/>
                          <a:cs typeface="Arial" pitchFamily="34" charset="-120"/>
                        </a:rPr>
                        <a:t>Path</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Component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Purpose</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Primary API call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Dashboard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Overview charts and stats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/api/reports/stats/overview</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List and filter all 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/reports/new</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CreateReport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Create a new report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POST /api/reports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/reports/:id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ReportDetail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View one report's nested JSON</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/api/reports/:id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/query-playground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QueryPlayground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Run nested and agg queries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t>GET /api/queries/nested, GET /api/queries/allowed-operators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/bottlenecks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Bottlenecks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Static compatibility info</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(no API call)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Data Model: Variable Schemas</a:t>
            </a:r>
            <a:endParaRPr lang="en-US" sz="3200" dirty="0"/>
          </a:p>
        </p:txBody>
      </p:sp>
      <p:sp>
        <p:nvSpPr>
          <p:cNvPr id="3" name="Shape 1"/>
          <p:cNvSpPr/>
          <p:nvPr/>
        </p:nvSpPr>
        <p:spPr>
          <a:xfrm>
            <a:off x="182880" y="1097280"/>
            <a:ext cx="2743200" cy="3474720"/>
          </a:xfrm>
          <a:prstGeom prst="rect">
            <a:avLst/>
          </a:prstGeom>
          <a:solidFill>
            <a:srgbClr val="F5F5F5"/>
          </a:solidFill>
          <a:ln w="12700">
            <a:solidFill>
              <a:srgbClr val="CCCCCC"/>
            </a:solidFill>
            <a:prstDash val="solid"/>
          </a:ln>
        </p:spPr>
        <p:txBody>
          <a:bodyPr/>
          <a:p/>
        </p:txBody>
      </p:sp>
      <p:sp>
        <p:nvSpPr>
          <p:cNvPr id="4" name="Text 2"/>
          <p:cNvSpPr/>
          <p:nvPr/>
        </p:nvSpPr>
        <p:spPr>
          <a:xfrm>
            <a:off x="182880" y="1097280"/>
            <a:ext cx="2743200" cy="365760"/>
          </a:xfrm>
          <a:prstGeom prst="rect">
            <a:avLst/>
          </a:prstGeom>
          <a:noFill/>
          <a:ln/>
        </p:spPr>
        <p:txBody>
          <a:bodyPr wrap="square" rtlCol="0" anchor="ctr"/>
          <a:lstStyle/>
          <a:p>
            <a:pPr algn="ctr" indent="0" marL="0">
              <a:buNone/>
            </a:pPr>
            <a:r>
              <a:rPr lang="en-US" sz="1500" b="1" dirty="0">
                <a:solidFill>
                  <a:srgbClr val="000000"/>
                </a:solidFill>
              </a:rPr>
              <a:t>Vehicle Inspection</a:t>
            </a:r>
            <a:endParaRPr lang="en-US" sz="1500" dirty="0"/>
          </a:p>
        </p:txBody>
      </p:sp>
      <p:sp>
        <p:nvSpPr>
          <p:cNvPr id="5" name="Text 3"/>
          <p:cNvSpPr/>
          <p:nvPr/>
        </p:nvSpPr>
        <p:spPr>
          <a:xfrm>
            <a:off x="27432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'vehicle',</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vehicleDetails: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make: 'Tata',</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fuelType: 'diesel'</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component: 'brakes',</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severity: 'high'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3200400" y="1097280"/>
            <a:ext cx="2743200" cy="3474720"/>
          </a:xfrm>
          <a:prstGeom prst="rect">
            <a:avLst/>
          </a:prstGeom>
          <a:solidFill>
            <a:srgbClr val="F5F5F5"/>
          </a:solidFill>
          <a:ln w="12700">
            <a:solidFill>
              <a:srgbClr val="CCCCCC"/>
            </a:solidFill>
            <a:prstDash val="solid"/>
          </a:ln>
        </p:spPr>
        <p:txBody>
          <a:bodyPr/>
          <a:p/>
        </p:txBody>
      </p:sp>
      <p:sp>
        <p:nvSpPr>
          <p:cNvPr id="7" name="Text 5"/>
          <p:cNvSpPr/>
          <p:nvPr/>
        </p:nvSpPr>
        <p:spPr>
          <a:xfrm>
            <a:off x="3200400" y="1097280"/>
            <a:ext cx="2743200" cy="365760"/>
          </a:xfrm>
          <a:prstGeom prst="rect">
            <a:avLst/>
          </a:prstGeom>
          <a:noFill/>
          <a:ln/>
        </p:spPr>
        <p:txBody>
          <a:bodyPr wrap="square" rtlCol="0" anchor="ctr"/>
          <a:lstStyle/>
          <a:p>
            <a:pPr algn="ctr" indent="0" marL="0">
              <a:buNone/>
            </a:pPr>
            <a:r>
              <a:rPr lang="en-US" sz="1500" b="1" dirty="0">
                <a:solidFill>
                  <a:srgbClr val="000000"/>
                </a:solidFill>
              </a:rPr>
              <a:t>Building Inspection</a:t>
            </a:r>
            <a:endParaRPr lang="en-US" sz="1500" dirty="0"/>
          </a:p>
        </p:txBody>
      </p:sp>
      <p:sp>
        <p:nvSpPr>
          <p:cNvPr id="8" name="Text 6"/>
          <p:cNvSpPr/>
          <p:nvPr/>
        </p:nvSpPr>
        <p:spPr>
          <a:xfrm>
            <a:off x="329184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'building',</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buildingDetails: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floors: 12</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compliance: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fireCode: false</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area: 'plumbing'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6217920" y="1097280"/>
            <a:ext cx="2743200" cy="3474720"/>
          </a:xfrm>
          <a:prstGeom prst="rect">
            <a:avLst/>
          </a:prstGeom>
          <a:solidFill>
            <a:srgbClr val="F5F5F5"/>
          </a:solidFill>
          <a:ln w="12700">
            <a:solidFill>
              <a:srgbClr val="CCCCCC"/>
            </a:solidFill>
            <a:prstDash val="solid"/>
          </a:ln>
        </p:spPr>
        <p:txBody>
          <a:bodyPr/>
          <a:p/>
        </p:txBody>
      </p:sp>
      <p:sp>
        <p:nvSpPr>
          <p:cNvPr id="10" name="Text 8"/>
          <p:cNvSpPr/>
          <p:nvPr/>
        </p:nvSpPr>
        <p:spPr>
          <a:xfrm>
            <a:off x="6217920" y="1097280"/>
            <a:ext cx="2743200" cy="365760"/>
          </a:xfrm>
          <a:prstGeom prst="rect">
            <a:avLst/>
          </a:prstGeom>
          <a:noFill/>
          <a:ln/>
        </p:spPr>
        <p:txBody>
          <a:bodyPr wrap="square" rtlCol="0" anchor="ctr"/>
          <a:lstStyle/>
          <a:p>
            <a:pPr algn="ctr" indent="0" marL="0">
              <a:buNone/>
            </a:pPr>
            <a:r>
              <a:rPr lang="en-US" sz="1500" b="1" dirty="0">
                <a:solidFill>
                  <a:srgbClr val="000000"/>
                </a:solidFill>
              </a:rPr>
              <a:t>Food Safety</a:t>
            </a:r>
            <a:endParaRPr lang="en-US" sz="1500" dirty="0"/>
          </a:p>
        </p:txBody>
      </p:sp>
      <p:sp>
        <p:nvSpPr>
          <p:cNvPr id="11" name="Text 9"/>
          <p:cNvSpPr/>
          <p:nvPr/>
        </p:nvSpPr>
        <p:spPr>
          <a:xfrm>
            <a:off x="630936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'food_safety',</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temperatureLog: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item: 'freezer_1',</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temp: -18.2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category: 'hygiene'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Nested Queries &amp; Aggregations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2000" b="1" dirty="0">
                <a:solidFill>
                  <a:srgbClr val="000080"/>
                </a:solidFill>
              </a:rPr>
              <a:t>1. Find reports with a high-severity finding (nested array)</a:t>
            </a:r>
            <a:endParaRPr lang="en-US" sz="2000" dirty="0"/>
          </a:p>
        </p:txBody>
      </p:sp>
      <p:sp>
        <p:nvSpPr>
          <p:cNvPr id="4" name="Text 2"/>
          <p:cNvSpPr/>
          <p:nvPr/>
        </p:nvSpPr>
        <p:spPr>
          <a:xfrm>
            <a:off x="457200" y="1371600"/>
            <a:ext cx="8229600" cy="32004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db.reports.find({ 'findings.severity': 'high' })</a:t>
            </a:r>
            <a:endParaRPr lang="en-US" sz="1700" dirty="0"/>
          </a:p>
        </p:txBody>
      </p:sp>
      <p:sp>
        <p:nvSpPr>
          <p:cNvPr id="5" name="Text 3"/>
          <p:cNvSpPr/>
          <p:nvPr/>
        </p:nvSpPr>
        <p:spPr>
          <a:xfrm>
            <a:off x="457200" y="1828800"/>
            <a:ext cx="8229600" cy="365760"/>
          </a:xfrm>
          <a:prstGeom prst="rect">
            <a:avLst/>
          </a:prstGeom>
          <a:noFill/>
          <a:ln/>
        </p:spPr>
        <p:txBody>
          <a:bodyPr wrap="square" rtlCol="0" anchor="ctr"/>
          <a:lstStyle/>
          <a:p>
            <a:pPr indent="0" marL="0">
              <a:buNone/>
            </a:pPr>
            <a:r>
              <a:rPr lang="en-US" sz="2000" b="1" dirty="0">
                <a:solidFill>
                  <a:srgbClr val="000080"/>
                </a:solidFill>
              </a:rPr>
              <a:t>2. Filter by a type-specific nested field</a:t>
            </a:r>
            <a:endParaRPr lang="en-US" sz="2000" dirty="0"/>
          </a:p>
        </p:txBody>
      </p:sp>
      <p:sp>
        <p:nvSpPr>
          <p:cNvPr id="6" name="Text 4"/>
          <p:cNvSpPr/>
          <p:nvPr/>
        </p:nvSpPr>
        <p:spPr>
          <a:xfrm>
            <a:off x="457200" y="2194560"/>
            <a:ext cx="8229600" cy="32004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db.reports.find({ 'vehicleDetails.fuelType': 'diesel' })</a:t>
            </a:r>
            <a:endParaRPr lang="en-US" sz="1700" dirty="0"/>
          </a:p>
        </p:txBody>
      </p:sp>
      <p:sp>
        <p:nvSpPr>
          <p:cNvPr id="7" name="Text 5"/>
          <p:cNvSpPr/>
          <p:nvPr/>
        </p:nvSpPr>
        <p:spPr>
          <a:xfrm>
            <a:off x="457200" y="2651760"/>
            <a:ext cx="8229600" cy="365760"/>
          </a:xfrm>
          <a:prstGeom prst="rect">
            <a:avLst/>
          </a:prstGeom>
          <a:noFill/>
          <a:ln/>
        </p:spPr>
        <p:txBody>
          <a:bodyPr wrap="square" rtlCol="0" anchor="ctr"/>
          <a:lstStyle/>
          <a:p>
            <a:pPr indent="0" marL="0">
              <a:buNone/>
            </a:pPr>
            <a:r>
              <a:rPr lang="en-US" sz="2000" b="1" dirty="0">
                <a:solidFill>
                  <a:srgbClr val="000080"/>
                </a:solidFill>
              </a:rPr>
              <a:t>3. Aggregation — count reports grouped by status</a:t>
            </a:r>
            <a:endParaRPr lang="en-US" sz="2000" dirty="0"/>
          </a:p>
        </p:txBody>
      </p:sp>
      <p:sp>
        <p:nvSpPr>
          <p:cNvPr id="8" name="Text 6"/>
          <p:cNvSpPr/>
          <p:nvPr/>
        </p:nvSpPr>
        <p:spPr>
          <a:xfrm>
            <a:off x="457200" y="3017520"/>
            <a:ext cx="8229600" cy="82296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db.reports.aggregate([</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  { $group: { _id: '$status', count: { $sum: 1 } } },</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  { $sort:  { count: -1 } }</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A: Compatibility</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188720"/>
          <a:ext cx="8778240" cy="3474720"/>
        </p:xfrm>
        <a:graphic>
          <a:graphicData uri="http://schemas.openxmlformats.org/drawingml/2006/table">
            <a:tbl>
              <a:tblPr/>
              <a:tblGrid>
                <a:gridCol w="2194560"/>
                <a:gridCol w="2194560"/>
                <a:gridCol w="2194560"/>
                <a:gridCol w="2194560"/>
              </a:tblGrid>
              <a:tr h="694944">
                <a:tc>
                  <a:txBody>
                    <a:bodyPr/>
                    <a:lstStyle/>
                    <a:p>
                      <a:pPr indent="0" marL="0">
                        <a:buNone/>
                      </a:pPr>
                      <a:r>
                        <a:rPr lang="en-US" sz="1300" b="1" dirty="0">
                          <a:solidFill>
                            <a:srgbClr val="FFFFFF"/>
                          </a:solidFill>
                          <a:latin typeface="Arial" pitchFamily="34" charset="0"/>
                          <a:ea typeface="Arial" pitchFamily="34" charset="-122"/>
                          <a:cs typeface="Arial" pitchFamily="34" charset="-120"/>
                        </a:rPr>
                        <a:t>Feature / Setting</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Situation</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Our mitigation</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Observed error</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retryWrites=true</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(engine 5.0)</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Retryable writes supported only from engine 8.0.2; engine 5.0 cannot use them</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Set retryWrites=false in connection URI</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TLS / CA bundle</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DocumentDB requires TLS; the AWS global CA bundle must be provided</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tlsCAFile=global-bundle.pem; exit in production if file is missing</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$text / text indexes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Supported, but tokenisation differs from MongoDB; case-insensitive by default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Use case-insensitive $regex for text search in tag and city fields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To test on cluster:</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directConnection,</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$lookup, $merge,</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change streams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Behaviour on engine 5.0 not yet confirmed</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Will test during demo setup; document observed errors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B: Cost Management</a:t>
            </a:r>
            <a:endParaRPr lang="en-US" sz="3200" dirty="0"/>
          </a:p>
        </p:txBody>
      </p:sp>
      <p:sp>
        <p:nvSpPr>
          <p:cNvPr id="3" name="Text 1"/>
          <p:cNvSpPr/>
          <p:nvPr/>
        </p:nvSpPr>
        <p:spPr>
          <a:xfrm>
            <a:off x="457200" y="1371600"/>
            <a:ext cx="8229600" cy="201168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Cluster cost is high relative to a small student workload.</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One instance, smallest available class, to minimise hourly spend.</a:t>
            </a:r>
            <a:endParaRPr lang="en-US" sz="2000" dirty="0"/>
          </a:p>
          <a:p>
            <a:pPr marL="342900" indent="-342900">
              <a:buSzPct val="100000"/>
              <a:buChar char="•"/>
            </a:pPr>
            <a:r>
              <a:t>Stop the app, then stop the cluster when not in use.</a:t>
            </a:r>
            <a:br/>
            <a:r>
              <a:t>A stopped cluster is still charged for storage, manual snapshots and automated backup storage within the retention window. AWS automatically starts a stopped cluster after seven days, and instance charges resume.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Delete the cluster and EC2 instance immediately after the demo.</a:t>
            </a:r>
            <a:endParaRPr lang="en-US" sz="2000" dirty="0"/>
          </a:p>
        </p:txBody>
      </p:sp>
      <p:sp>
        <p:nvSpPr>
          <p:cNvPr id="4" name="Shape 2"/>
          <p:cNvSpPr/>
          <p:nvPr/>
        </p:nvSpPr>
        <p:spPr>
          <a:xfrm>
            <a:off x="457200" y="3474720"/>
            <a:ext cx="3840480" cy="1280160"/>
          </a:xfrm>
          <a:prstGeom prst="rect">
            <a:avLst/>
          </a:prstGeom>
          <a:solidFill>
            <a:srgbClr val="EEEEEE"/>
          </a:solidFill>
          <a:ln w="12700">
            <a:solidFill>
              <a:srgbClr val="000080"/>
            </a:solidFill>
            <a:prstDash val="solid"/>
          </a:ln>
        </p:spPr>
        <p:txBody>
          <a:bodyPr/>
          <a:p/>
        </p:txBody>
      </p:sp>
      <p:sp>
        <p:nvSpPr>
          <p:cNvPr id="5" name="Text 3"/>
          <p:cNvSpPr/>
          <p:nvPr/>
        </p:nvSpPr>
        <p:spPr>
          <a:xfrm>
            <a:off x="457200" y="3474720"/>
            <a:ext cx="3840480" cy="1280160"/>
          </a:xfrm>
          <a:prstGeom prst="rect">
            <a:avLst/>
          </a:prstGeom>
          <a:noFill/>
          <a:ln/>
        </p:spPr>
        <p:txBody>
          <a:bodyPr wrap="square" rtlCol="0" anchor="ctr"/>
          <a:lstStyle/>
          <a:p>
            <a:pPr algn="ctr" indent="0" marL="0">
              <a:buNone/>
            </a:pPr>
            <a:r>
              <a:rPr lang="en-US" sz="1600" dirty="0">
                <a:solidFill>
                  <a:srgbClr val="000000"/>
                </a:solidFill>
              </a:rPr>
              <a:t>[insert screenshot of budget]</a:t>
            </a:r>
            <a:endParaRPr lang="en-US" sz="1600" dirty="0"/>
          </a:p>
        </p:txBody>
      </p:sp>
      <p:sp>
        <p:nvSpPr>
          <p:cNvPr id="6" name="Shape 4"/>
          <p:cNvSpPr/>
          <p:nvPr/>
        </p:nvSpPr>
        <p:spPr>
          <a:xfrm>
            <a:off x="4572000" y="3474720"/>
            <a:ext cx="3840480" cy="1280160"/>
          </a:xfrm>
          <a:prstGeom prst="rect">
            <a:avLst/>
          </a:prstGeom>
          <a:solidFill>
            <a:srgbClr val="EEEEEE"/>
          </a:solidFill>
          <a:ln w="12700">
            <a:solidFill>
              <a:srgbClr val="000080"/>
            </a:solidFill>
            <a:prstDash val="solid"/>
          </a:ln>
        </p:spPr>
        <p:txBody>
          <a:bodyPr/>
          <a:p/>
        </p:txBody>
      </p:sp>
      <p:sp>
        <p:nvSpPr>
          <p:cNvPr id="7" name="Text 5"/>
          <p:cNvSpPr/>
          <p:nvPr/>
        </p:nvSpPr>
        <p:spPr>
          <a:xfrm>
            <a:off x="4572000" y="3474720"/>
            <a:ext cx="3840480" cy="1280160"/>
          </a:xfrm>
          <a:prstGeom prst="rect">
            <a:avLst/>
          </a:prstGeom>
          <a:noFill/>
          <a:ln/>
        </p:spPr>
        <p:txBody>
          <a:bodyPr wrap="square" rtlCol="0" anchor="ctr"/>
          <a:lstStyle/>
          <a:p>
            <a:pPr algn="ctr" indent="0" marL="0">
              <a:buNone/>
            </a:pPr>
            <a:r>
              <a:rPr lang="en-US" sz="1600" dirty="0">
                <a:solidFill>
                  <a:srgbClr val="000000"/>
                </a:solidFill>
              </a:rPr>
              <a:t>[insert screenshot of cluster cost]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Demo Flow &amp; Conclusion</a:t>
            </a:r>
            <a:endParaRPr lang="en-US" sz="3200" dirty="0"/>
          </a:p>
        </p:txBody>
      </p:sp>
      <p:sp>
        <p:nvSpPr>
          <p:cNvPr id="3" name="Text 1"/>
          <p:cNvSpPr/>
          <p:nvPr/>
        </p:nvSpPr>
        <p:spPr>
          <a:xfrm>
            <a:off x="457200" y="1371600"/>
            <a:ext cx="8229600" cy="256032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1. Introduction  &amp;  2. AWS Architecture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3. Dashboard Overview  &amp;  4. Create a Vehicle Report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5. Create a Completely Different Report Type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6. Report Detail &amp; Nested JSON tree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7. Query Playground  &amp;  8. Bottleneck Handling</a:t>
            </a:r>
            <a:endParaRPr lang="en-US" sz="2000" dirty="0"/>
          </a:p>
        </p:txBody>
      </p:sp>
      <p:sp>
        <p:nvSpPr>
          <p:cNvPr id="4" name="Shape 2"/>
          <p:cNvSpPr/>
          <p:nvPr/>
        </p:nvSpPr>
        <p:spPr>
          <a:xfrm>
            <a:off x="457200" y="4023360"/>
            <a:ext cx="8229600" cy="822960"/>
          </a:xfrm>
          <a:prstGeom prst="rect">
            <a:avLst/>
          </a:prstGeom>
          <a:solidFill>
            <a:srgbClr val="FF9900"/>
          </a:solidFill>
          <a:ln/>
        </p:spPr>
        <p:txBody>
          <a:bodyPr/>
          <a:p/>
        </p:txBody>
      </p:sp>
      <p:sp>
        <p:nvSpPr>
          <p:cNvPr id="5" name="Text 3"/>
          <p:cNvSpPr/>
          <p:nvPr/>
        </p:nvSpPr>
        <p:spPr>
          <a:xfrm>
            <a:off x="457200" y="4023360"/>
            <a:ext cx="8229600" cy="822960"/>
          </a:xfrm>
          <a:prstGeom prst="rect">
            <a:avLst/>
          </a:prstGeom>
          <a:noFill/>
          <a:ln/>
        </p:spPr>
        <p:txBody>
          <a:bodyPr wrap="square" rtlCol="0" anchor="ctr"/>
          <a:lstStyle/>
          <a:p>
            <a:pPr algn="ctr" indent="0" marL="0">
              <a:buNone/>
            </a:pPr>
            <a:r>
              <a:rPr lang="en-US" sz="1800" b="1" dirty="0">
                <a:solidFill>
                  <a:srgbClr val="FFFFFF"/>
                </a:solidFill>
              </a:rPr>
              <a:t>DocumentDB stores variable-schema reports in one collection and supports nested queries, with two manageable bottlenecks.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How We Guided AI-Assisted Development</a:t>
            </a:r>
            <a:endParaRPr lang="en-US" sz="3200" dirty="0"/>
          </a:p>
        </p:txBody>
      </p:sp>
      <p:sp>
        <p:nvSpPr>
          <p:cNvPr id="3" name="Text 1"/>
          <p:cNvSpPr/>
          <p:nvPr/>
        </p:nvSpPr>
        <p:spPr>
          <a:xfrm>
            <a:off x="457200" y="1005840"/>
            <a:ext cx="8229600" cy="320040"/>
          </a:xfrm>
          <a:prstGeom prst="rect">
            <a:avLst/>
          </a:prstGeom>
          <a:noFill/>
          <a:ln/>
        </p:spPr>
        <p:txBody>
          <a:bodyPr wrap="square" rtlCol="0" anchor="ctr"/>
          <a:lstStyle/>
          <a:p>
            <a:pPr indent="0" marL="0">
              <a:buNone/>
            </a:pPr>
            <a:r>
              <a:rPr lang="en-US" sz="2000" b="1" dirty="0">
                <a:solidFill>
                  <a:srgbClr val="000080"/>
                </a:solidFill>
              </a:rPr>
              <a:t>SKILL.md — rules for the coding agent:</a:t>
            </a:r>
            <a:endParaRPr lang="en-US" sz="2000" dirty="0"/>
          </a:p>
        </p:txBody>
      </p:sp>
      <p:sp>
        <p:nvSpPr>
          <p:cNvPr id="4" name="Text 2"/>
          <p:cNvSpPr/>
          <p:nvPr/>
        </p:nvSpPr>
        <p:spPr>
          <a:xfrm>
            <a:off x="457200" y="1371600"/>
            <a:ext cx="8229600" cy="128016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Data model and query rules (field names, dot notation, operator allow-list).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Connection and deployment rules (driver version, TLS, env vars, VPC, Learner Lab).</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Honesty rules: placeholders for untested facts; never invent errors or costs.</a:t>
            </a:r>
            <a:endParaRPr lang="en-US" sz="2000" dirty="0"/>
          </a:p>
        </p:txBody>
      </p:sp>
      <p:sp>
        <p:nvSpPr>
          <p:cNvPr id="5" name="Text 3"/>
          <p:cNvSpPr/>
          <p:nvPr/>
        </p:nvSpPr>
        <p:spPr>
          <a:xfrm>
            <a:off x="457200" y="2743200"/>
            <a:ext cx="8229600" cy="320040"/>
          </a:xfrm>
          <a:prstGeom prst="rect">
            <a:avLst/>
          </a:prstGeom>
          <a:noFill/>
          <a:ln/>
        </p:spPr>
        <p:txBody>
          <a:bodyPr wrap="square" rtlCol="0" anchor="ctr"/>
          <a:lstStyle/>
          <a:p>
            <a:pPr indent="0" marL="0">
              <a:buNone/>
            </a:pPr>
            <a:r>
              <a:rPr lang="en-US" sz="2000" b="1" dirty="0">
                <a:solidFill>
                  <a:srgbClr val="000080"/>
                </a:solidFill>
              </a:rPr>
              <a:t>mcp.md — documentation only, no server is running:</a:t>
            </a:r>
            <a:endParaRPr lang="en-US" sz="2000" dirty="0"/>
          </a:p>
        </p:txBody>
      </p:sp>
      <p:sp>
        <p:nvSpPr>
          <p:cNvPr id="6" name="Text 4"/>
          <p:cNvSpPr/>
          <p:nvPr/>
        </p:nvSpPr>
        <p:spPr>
          <a:xfrm>
            <a:off x="457200" y="3108960"/>
            <a:ext cx="8229600" cy="146304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MCP (Model Context Protocol) lets an AI agent query live tools. Three relevant servers exist: AWS Documentation, DocumentDB, and AWS Pricing.</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The DocumentDB server needs VPC access; we test queries via the Query Playground and mongosh instead.</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Security Decisions</a:t>
            </a:r>
            <a:endParaRPr lang="en-US" sz="3200" dirty="0"/>
          </a:p>
        </p:txBody>
      </p:sp>
      <p:sp>
        <p:nvSpPr>
          <p:cNvPr id="3" name="Text 1"/>
          <p:cNvSpPr/>
          <p:nvPr/>
        </p:nvSpPr>
        <p:spPr>
          <a:xfrm>
            <a:off x="457200" y="1188720"/>
            <a:ext cx="8229600" cy="3474720"/>
          </a:xfrm>
          <a:prstGeom prst="rect">
            <a:avLst/>
          </a:prstGeom>
          <a:noFill/>
          <a:ln/>
        </p:spPr>
        <p:txBody>
          <a:bodyPr wrap="square" rtlCol="0" anchor="ctr"/>
          <a:lstStyle/>
          <a:p>
            <a:pPr marL="342900" indent="-342900">
              <a:buSzPct val="100000"/>
              <a:buChar char="•"/>
            </a:pPr>
            <a:r>
              <a:t>Two security groups: app-sg (ports 22 &amp; 3000 from known IPs only); docdb-sg (port 27017 from app-sg only). Never open to 0.0.0.0/0.</a:t>
            </a:r>
            <a:endParaRPr lang="en-US" sz="1900" dirty="0"/>
          </a:p>
          <a:p>
            <a:pPr marL="342900" indent="-342900">
              <a:buSzPct val="100000"/>
              <a:buChar char="•"/>
            </a:pPr>
            <a:r>
              <a:rPr lang="en-US" sz="1900" dirty="0">
                <a:solidFill>
                  <a:srgbClr val="000000"/>
                </a:solidFill>
                <a:latin typeface="Arial" pitchFamily="34" charset="0"/>
                <a:ea typeface="Arial" pitchFamily="34" charset="-122"/>
                <a:cs typeface="Arial" pitchFamily="34" charset="-120"/>
              </a:rPr>
              <a:t>Production TLS guard: server exits immediately if global-bundle.pem is missing (database.js).</a:t>
            </a:r>
            <a:endParaRPr lang="en-US" sz="1900" dirty="0"/>
          </a:p>
          <a:p>
            <a:pPr marL="342900" indent="-342900">
              <a:buSzPct val="100000"/>
              <a:buChar char="•"/>
            </a:pPr>
            <a:r>
              <a:t>Query Playground gate: GET /api/queries/nested, GET /api/queries/allowed-operators and POST /api/queries/custom return 403 unless ENABLE_QUERY_PLAYGROUND=true (queryController.js).</a:t>
            </a:r>
            <a:endParaRPr lang="en-US" sz="1900" dirty="0"/>
          </a:p>
          <a:p>
            <a:pPr marL="342900" indent="-342900">
              <a:buSzPct val="100000"/>
              <a:buChar char="•"/>
            </a:pPr>
            <a:r>
              <a:t>Operator allow-list: $where, $function and $accumulator are rejected before any query reaches the driver (validateQuery.js).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2026-10-03T19:02:25Z</dcterms:created>
  <dcterms:modified xsi:type="dcterms:W3CDTF">2026-10-03T19:02:25Z</dcterms:modified>
</cp:coreProperties>
</file>